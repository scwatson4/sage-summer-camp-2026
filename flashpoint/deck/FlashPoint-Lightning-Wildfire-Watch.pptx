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3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A2332"/>
                </a:solidFill>
                <a:latin typeface="Cambria"/>
              </a:rPr>
              <a:t>Median strike-location error (meters)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strike-location error (m)</c:v>
                </c:pt>
              </c:strCache>
            </c:strRef>
          </c:tx>
          <c:spPr>
            <a:solidFill>
              <a:srgbClr val="F5B7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50 ms onset error</c:v>
                  </c:pt>
                  <c:pt idx="1">
                    <c:v>100 ms (realistic)</c:v>
                  </c:pt>
                  <c:pt idx="2">
                    <c:v>200 ms onset error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135</c:v>
                </c:pt>
                <c:pt idx="1">
                  <c:v>216</c:v>
                </c:pt>
                <c:pt idx="2">
                  <c:v>331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C3A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9525" cap="flat">
              <a:solidFill>
                <a:srgbClr val="D9E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A6B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FlashPoint: turn the existing Sage fleet into a lightning localization and wildfire ignition-watch system. Every claim in this deck was verified live against the fleet on July 21,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Lightning fires begin in remote country; holdover fires give a multi-day warning window that no current system uses. Commercial networks locate strikes but do not watch for ignition.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stages: arm on weather, timestamp flash optically, time thunder acoustically, per-node range, multi-node fix, then a 72-hour ignition watch with responder notification. Only tiny event records leave the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physics: the flash gives all nodes a shared time-zero, so each node independently measures range with its own clock. This removes the cross-node synchronization problem entirely in flash mode. Daytime falls back to thunder TDOA.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Census verified from the live manifest: Chicagoland has a full 51-node array; Montana twins in fire country recording since 2023; single sentinels across the West; Colorado is a capability gap worth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on real node coordinates: 135-331 m median error depending on thunder onset precision. Fringe geometries are quality-gated. Flash-anchored mode is more stable still.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evidence: real lightning fires occurred within earshot of recording nodes. The Kitten Fire was 6 km from a node capturing audio every 5.5 minutes; the Selma bust gives imagery and the dry-lightning test. These archives exist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storm-mode controller: pre-arm on forecast, arm on local sensors and approaching cells, full continuous capture during the storm, then a 72-hour holdover watch in which PTZ cameras physically re-aim along strike bearings and smoke detection gets priority. Guardrails and audit logging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wildfire loop: localized strike, dry-lightning flag from the node's own rain gauge, fuel dryness context, then a human-reviewed notification card. Responsible-use design is built in from the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rationale: on-node inference, four-orders-of-magnitude data reduction, disaster resilience when backhaul fails, and local-first model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against Blitzortung and the GOES satellite mapper is free. Demo insurance: a replay harness and a strobe/speaker bench rig mean the pipeline demos even without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Six-day build sharing 70% of its stack with the EchoGuard sibling project, mapped directly onto every required camp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infrastructure exists, the physics removes the hardest engineering problem, and a real lightning fire already happened next to a recording node. Next step is the retrospective analysis, then the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22E47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777240"/>
            <a:ext cx="1005840" cy="1005840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4212" y="998525"/>
            <a:ext cx="56327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92024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FlashPoint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463040" y="2971800"/>
            <a:ext cx="9265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strike localization &amp; wildfire ignition watch on the Sage Grande Testbed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097280" y="379476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Cameras catch the flash.  </a:t>
            </a:r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Microphones catch the thunder.  </a:t>
            </a:r>
            <a:pPr algn="ctr" indent="0" marL="0">
              <a:buNone/>
            </a:pPr>
            <a:r>
              <a:rPr lang="en-US" sz="1700" b="1" i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 decides when to listen.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Summer Camp 2026 hackathon proposal  ·  Samuel Watson  ·  every number in this deck verified against the live fleet, July 21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fires start silently, in country nobody watches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563624"/>
            <a:ext cx="146304" cy="146304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4081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remote mountain West, lightning-ignited fires account for the majority of area burned </a:t>
            </a:r>
            <a:pPr indent="0" marL="0">
              <a:buNone/>
            </a:pPr>
            <a:r>
              <a:rPr lang="en-US" sz="15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they start far from roads, stations, and eyes.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94360" y="2734056"/>
            <a:ext cx="146304" cy="146304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578608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Holdover fires smolder for days before flaring </a:t>
            </a:r>
            <a:pPr indent="0" marL="0">
              <a:buNone/>
            </a:pPr>
            <a:r>
              <a:rPr lang="en-US" sz="15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strike is the earliest possible warning, and today nobody connects strikes to a follow-up watch.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3904488"/>
            <a:ext cx="146304" cy="146304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4904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lightning networks map strikes, then stop </a:t>
            </a:r>
            <a:pPr indent="0" marL="0">
              <a:buNone/>
            </a:pPr>
            <a:r>
              <a:rPr lang="en-US" sz="15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local fuel context, no camera follow-up, no ignition watch, and nothing at the network's edge.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window that matters is strike → smolder → flame. FlashPoint lives inside that window.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78040" y="1417320"/>
            <a:ext cx="4434840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06640" y="1874520"/>
            <a:ext cx="548640" cy="548640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7341" y="1995221"/>
            <a:ext cx="307238" cy="30723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138160" y="154533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38160" y="216712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holdover fire can smolder after the strike — the watch window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178040" y="3118104"/>
            <a:ext cx="4434840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406640" y="3575304"/>
            <a:ext cx="548640" cy="548640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341" y="3696005"/>
            <a:ext cx="307238" cy="30723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138160" y="3246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 km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8138160" y="386791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thunder is audible — one node covers a whole drainage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178040" y="4818888"/>
            <a:ext cx="4434840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06640" y="5276088"/>
            <a:ext cx="548640" cy="548640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1" y="5396789"/>
            <a:ext cx="307238" cy="30723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138160" y="494690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000" dirty="0"/>
          </a:p>
        </p:txBody>
      </p:sp>
      <p:sp>
        <p:nvSpPr>
          <p:cNvPr id="25" name="Text 20"/>
          <p:cNvSpPr/>
          <p:nvPr/>
        </p:nvSpPr>
        <p:spPr>
          <a:xfrm>
            <a:off x="8138160" y="556869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hardware needed — mics, cameras &amp; weather sensors are already deployed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storm forecast to responder alert — one edge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82016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30656" y="2121408"/>
            <a:ext cx="603504" cy="603504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426" y="2254179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5168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36880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10032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local sensors switch nodes to storm mode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2447392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996032" y="2121408"/>
            <a:ext cx="603504" cy="603504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802" y="2254179"/>
            <a:ext cx="337962" cy="337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20544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502256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575408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 cameras timestamp the flash — a free absolute clock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4312768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61408" y="2121408"/>
            <a:ext cx="603504" cy="603504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178" y="2254179"/>
            <a:ext cx="337962" cy="3379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385920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367632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THUNDER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4440784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mics time the rumble; Δt × 343 m/s = range, per node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6178144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26784" y="2121408"/>
            <a:ext cx="603504" cy="603504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554" y="2254179"/>
            <a:ext cx="337962" cy="33796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51296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233008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6306160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from several nodes triangulate the strike</a:t>
            </a:r>
            <a:endParaRPr lang="en-US" sz="1080" dirty="0"/>
          </a:p>
        </p:txBody>
      </p:sp>
      <p:sp>
        <p:nvSpPr>
          <p:cNvPr id="28" name="Shape 22"/>
          <p:cNvSpPr/>
          <p:nvPr/>
        </p:nvSpPr>
        <p:spPr>
          <a:xfrm>
            <a:off x="8043520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592160" y="2121408"/>
            <a:ext cx="603504" cy="603504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930" y="2254179"/>
            <a:ext cx="337962" cy="33796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116672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8098384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72 h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8171536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PTZ &amp; smoke detectors re-aim at strike bearings</a:t>
            </a:r>
            <a:endParaRPr lang="en-US" sz="1080" dirty="0"/>
          </a:p>
        </p:txBody>
      </p:sp>
      <p:sp>
        <p:nvSpPr>
          <p:cNvPr id="34" name="Shape 27"/>
          <p:cNvSpPr/>
          <p:nvPr/>
        </p:nvSpPr>
        <p:spPr>
          <a:xfrm>
            <a:off x="9908896" y="1828800"/>
            <a:ext cx="1700784" cy="2880360"/>
          </a:xfrm>
          <a:prstGeom prst="roundRect">
            <a:avLst>
              <a:gd name="adj" fmla="val 4839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10457536" y="2121408"/>
            <a:ext cx="603504" cy="603504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0306" y="2254179"/>
            <a:ext cx="337962" cy="33796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982048" y="1938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9963760" y="2926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NOTIFY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10036912" y="3310128"/>
            <a:ext cx="1444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ignition-risk card to responders, human-reviewed</a:t>
            </a:r>
            <a:endParaRPr lang="en-US" sz="1080" dirty="0"/>
          </a:p>
        </p:txBody>
      </p:sp>
      <p:sp>
        <p:nvSpPr>
          <p:cNvPr id="40" name="Text 32"/>
          <p:cNvSpPr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video and audio never leave the node — only strike events, a few hundred bytes each. That is the edge-AI core of the design.</a:t>
            </a:r>
            <a:endParaRPr lang="en-US" sz="1450" dirty="0"/>
          </a:p>
        </p:txBody>
      </p:sp>
      <p:sp>
        <p:nvSpPr>
          <p:cNvPr id="41" name="Text 33"/>
          <p:cNvSpPr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localized strike becomes a 72-hour wildfire ignition watchpoint.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·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flash is a free clock — no network sync needed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12064" cy="512064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" y="1593982"/>
            <a:ext cx="286756" cy="286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4447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 arrives instantly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261872" y="1755648"/>
            <a:ext cx="6126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sees the same flash at effectively the same moment — a shared time-zero, delivered by nature.</a:t>
            </a:r>
            <a:endParaRPr lang="en-US" sz="1220" dirty="0"/>
          </a:p>
        </p:txBody>
      </p:sp>
      <p:sp>
        <p:nvSpPr>
          <p:cNvPr id="8" name="Shape 5"/>
          <p:cNvSpPr/>
          <p:nvPr/>
        </p:nvSpPr>
        <p:spPr>
          <a:xfrm>
            <a:off x="548640" y="2615184"/>
            <a:ext cx="512064" cy="512064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2727838"/>
            <a:ext cx="286756" cy="2867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257860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node self-clocks flash-to-bang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61872" y="2889504"/>
            <a:ext cx="6126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clock per node measures Δt to its own thunder onset. Range = Δt × 343 m/s. Cross-node clock sync — the hardest problem in acoustic localization — is simply not required.</a:t>
            </a:r>
            <a:endParaRPr lang="en-US" sz="1220" dirty="0"/>
          </a:p>
        </p:txBody>
      </p:sp>
      <p:sp>
        <p:nvSpPr>
          <p:cNvPr id="12" name="Shape 8"/>
          <p:cNvSpPr/>
          <p:nvPr/>
        </p:nvSpPr>
        <p:spPr>
          <a:xfrm>
            <a:off x="548640" y="3749040"/>
            <a:ext cx="512064" cy="512064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3861694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61872" y="371246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Ranges triangulate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261872" y="4023360"/>
            <a:ext cx="6126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self-clocked ranges give a stable trilateration fix — far better conditioned than timing-difference methods.</a:t>
            </a:r>
            <a:endParaRPr lang="en-US" sz="1220" dirty="0"/>
          </a:p>
        </p:txBody>
      </p:sp>
      <p:sp>
        <p:nvSpPr>
          <p:cNvPr id="16" name="Shape 11"/>
          <p:cNvSpPr/>
          <p:nvPr/>
        </p:nvSpPr>
        <p:spPr>
          <a:xfrm>
            <a:off x="548640" y="4882896"/>
            <a:ext cx="512064" cy="512064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4995550"/>
            <a:ext cx="286756" cy="2867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48463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Thunder carries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261872" y="5157216"/>
            <a:ext cx="6126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Audible 10–15 km: nodes tens of km apart co-detect the same strike (a gunshot carries only 1–2 km).</a:t>
            </a:r>
            <a:endParaRPr lang="en-US" sz="1220" dirty="0"/>
          </a:p>
        </p:txBody>
      </p:sp>
      <p:sp>
        <p:nvSpPr>
          <p:cNvPr id="20" name="Shape 14"/>
          <p:cNvSpPr/>
          <p:nvPr/>
        </p:nvSpPr>
        <p:spPr>
          <a:xfrm>
            <a:off x="7452360" y="1481328"/>
            <a:ext cx="4160520" cy="2926080"/>
          </a:xfrm>
          <a:prstGeom prst="roundRect">
            <a:avLst>
              <a:gd name="adj" fmla="val 3125"/>
            </a:avLst>
          </a:prstGeom>
          <a:solidFill>
            <a:srgbClr val="151C2C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452360" y="17830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ms</a:t>
            </a:r>
            <a:endParaRPr lang="en-US" sz="5800" dirty="0"/>
          </a:p>
        </p:txBody>
      </p:sp>
      <p:sp>
        <p:nvSpPr>
          <p:cNvPr id="22" name="Text 16"/>
          <p:cNvSpPr/>
          <p:nvPr/>
        </p:nvSpPr>
        <p:spPr>
          <a:xfrm>
            <a:off x="7772400" y="27432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cross-node clock synchronization required in flash-anchored mode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772400" y="3520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±150 ms thunder-onset error  →  ±51 m of range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7452360" y="4617720"/>
            <a:ext cx="4160520" cy="1417320"/>
          </a:xfrm>
          <a:prstGeom prst="roundRect">
            <a:avLst>
              <a:gd name="adj" fmla="val 6452"/>
            </a:avLst>
          </a:prstGeom>
          <a:solidFill>
            <a:srgbClr val="EEF2F8"/>
          </a:solidFill>
          <a:ln/>
        </p:spPr>
      </p:sp>
      <p:sp>
        <p:nvSpPr>
          <p:cNvPr id="25" name="Text 19"/>
          <p:cNvSpPr/>
          <p:nvPr/>
        </p:nvSpPr>
        <p:spPr>
          <a:xfrm>
            <a:off x="7635240" y="4754880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asymmetry: </a:t>
            </a:r>
            <a:pPr indent="0" marL="0">
              <a:buNone/>
            </a:pPr>
            <a:r>
              <a:rPr lang="en-US" sz="11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detection is easy at night, weak at midday — daytime falls back to thunder-only timing across nodes (simulated next slide). Nocturnal dry-lightning storms are a real ignition scenario.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· THE FLEET IS ALREADY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fleet is already deployed — verified census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00200"/>
            <a:ext cx="457200" cy="457200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70078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63240" y="15910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+ 51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280160" y="1627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Chicagoland — the lab</a:t>
            </a:r>
            <a:endParaRPr lang="en-US" sz="1320" dirty="0"/>
          </a:p>
        </p:txBody>
      </p:sp>
      <p:sp>
        <p:nvSpPr>
          <p:cNvPr id="9" name="Text 6"/>
          <p:cNvSpPr/>
          <p:nvPr/>
        </p:nvSpPr>
        <p:spPr>
          <a:xfrm>
            <a:off x="749808" y="2231136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mic + 51 camera nodes across 32 × 49 km: one connected thunder array. Peak July storm season for live validation.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06824" y="1444752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1416" y="1600200"/>
            <a:ext cx="457200" cy="457200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0078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21424" y="15910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2×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5038344" y="1627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Lakeview, MT — the flagship</a:t>
            </a:r>
            <a:endParaRPr lang="en-US" sz="1320" dirty="0"/>
          </a:p>
        </p:txBody>
      </p:sp>
      <p:sp>
        <p:nvSpPr>
          <p:cNvPr id="15" name="Text 11"/>
          <p:cNvSpPr/>
          <p:nvPr/>
        </p:nvSpPr>
        <p:spPr>
          <a:xfrm>
            <a:off x="4507992" y="2231136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co-located mic+cam nodes (W084 + W06F) in sagebrush ignition country, recording continuously since 2023.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65008" y="1444752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1600200"/>
            <a:ext cx="457200" cy="457200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1700784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79608" y="15910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96528" y="1627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Fire-country sentinels</a:t>
            </a:r>
            <a:endParaRPr lang="en-US" sz="1320" dirty="0"/>
          </a:p>
        </p:txBody>
      </p:sp>
      <p:sp>
        <p:nvSpPr>
          <p:cNvPr id="21" name="Text 16"/>
          <p:cNvSpPr/>
          <p:nvPr/>
        </p:nvSpPr>
        <p:spPr>
          <a:xfrm>
            <a:off x="8266176" y="2231136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Palomar Mtn CA · Selma OR (Siskiyou) · Moran WY (Teton) · Lubbock TX — single nodes giving range + bearing per strike.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3749040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13232" y="3904488"/>
            <a:ext cx="457200" cy="457200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400507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063240" y="38953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1280160" y="3931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Salt Lake City pair</a:t>
            </a:r>
            <a:endParaRPr lang="en-US" sz="1320" dirty="0"/>
          </a:p>
        </p:txBody>
      </p:sp>
      <p:sp>
        <p:nvSpPr>
          <p:cNvPr id="27" name="Text 21"/>
          <p:cNvSpPr/>
          <p:nvPr/>
        </p:nvSpPr>
        <p:spPr>
          <a:xfrm>
            <a:off x="749808" y="4535424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W045 + W029, ~4–5 km apart: monsoon lightning meets Wasatch-front WUI.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06824" y="3749040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71416" y="3904488"/>
            <a:ext cx="457200" cy="457200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00507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821424" y="38953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5038344" y="3931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Hawaii — same controller, wind trigger</a:t>
            </a:r>
            <a:endParaRPr lang="en-US" sz="1320" dirty="0"/>
          </a:p>
        </p:txBody>
      </p:sp>
      <p:sp>
        <p:nvSpPr>
          <p:cNvPr id="33" name="Text 26"/>
          <p:cNvSpPr/>
          <p:nvPr/>
        </p:nvSpPr>
        <p:spPr>
          <a:xfrm>
            <a:off x="4507992" y="4535424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Lahaina node has thermal + PTZ. HI lightning is rare, so storm-mode arms on red-flag wind events instead — the architecture generalizes.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065008" y="3749040"/>
            <a:ext cx="3657600" cy="2084832"/>
          </a:xfrm>
          <a:prstGeom prst="roundRect">
            <a:avLst>
              <a:gd name="adj" fmla="val 3947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29600" y="3904488"/>
            <a:ext cx="457200" cy="457200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4005072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579608" y="38953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mics</a:t>
            </a:r>
            <a:endParaRPr lang="en-US" sz="1900" dirty="0"/>
          </a:p>
        </p:txBody>
      </p:sp>
      <p:sp>
        <p:nvSpPr>
          <p:cNvPr id="38" name="Text 30"/>
          <p:cNvSpPr/>
          <p:nvPr/>
        </p:nvSpPr>
        <p:spPr>
          <a:xfrm>
            <a:off x="8796528" y="3931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Colorado — the gap we found</a:t>
            </a:r>
            <a:endParaRPr lang="en-US" sz="1320" dirty="0"/>
          </a:p>
        </p:txBody>
      </p:sp>
      <p:sp>
        <p:nvSpPr>
          <p:cNvPr id="39" name="Text 31"/>
          <p:cNvSpPr/>
          <p:nvPr/>
        </p:nvSpPr>
        <p:spPr>
          <a:xfrm>
            <a:off x="8266176" y="4535424"/>
            <a:ext cx="32552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nodes in prime lightning country, zero microphones. A concrete hardware recommendation for the Sage team.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548640" y="6263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Sage node manifests + live data API, queried July 21 2026.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· SIMULATION ON REAL COORDINATES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accuracy from a Monte Carlo on the real network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Thunder-timing mode (the harder, daytime case) simulated over the actual GPS positions of Chicagoland's 51 microphone nodes — 250 random strikes per setting, ≥3 detecting nodes within 12 km.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40280"/>
          <a:ext cx="64008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371600"/>
            <a:ext cx="4325112" cy="1170432"/>
          </a:xfrm>
          <a:prstGeom prst="roundRect">
            <a:avLst>
              <a:gd name="adj" fmla="val 6250"/>
            </a:avLst>
          </a:prstGeom>
          <a:solidFill>
            <a:srgbClr val="EEF2F8"/>
          </a:solidFill>
          <a:ln/>
        </p:spPr>
      </p:sp>
      <p:sp>
        <p:nvSpPr>
          <p:cNvPr id="7" name="Shape 4"/>
          <p:cNvSpPr/>
          <p:nvPr/>
        </p:nvSpPr>
        <p:spPr>
          <a:xfrm>
            <a:off x="7461504" y="1682496"/>
            <a:ext cx="457200" cy="457200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783080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28432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~216 m median at realistic timing error</a:t>
            </a:r>
            <a:endParaRPr lang="en-US" sz="1180" dirty="0"/>
          </a:p>
        </p:txBody>
      </p:sp>
      <p:sp>
        <p:nvSpPr>
          <p:cNvPr id="10" name="Text 6"/>
          <p:cNvSpPr/>
          <p:nvPr/>
        </p:nvSpPr>
        <p:spPr>
          <a:xfrm>
            <a:off x="8028432" y="18470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with community lightning networks (km-class); enough to say which drainage to patrol.</a:t>
            </a:r>
            <a:endParaRPr lang="en-US" sz="1020" dirty="0"/>
          </a:p>
        </p:txBody>
      </p:sp>
      <p:sp>
        <p:nvSpPr>
          <p:cNvPr id="11" name="Shape 7"/>
          <p:cNvSpPr/>
          <p:nvPr/>
        </p:nvSpPr>
        <p:spPr>
          <a:xfrm>
            <a:off x="7315200" y="2670048"/>
            <a:ext cx="4325112" cy="1170432"/>
          </a:xfrm>
          <a:prstGeom prst="roundRect">
            <a:avLst>
              <a:gd name="adj" fmla="val 6250"/>
            </a:avLst>
          </a:prstGeom>
          <a:solidFill>
            <a:srgbClr val="EEF2F8"/>
          </a:solidFill>
          <a:ln/>
        </p:spPr>
      </p:sp>
      <p:sp>
        <p:nvSpPr>
          <p:cNvPr id="12" name="Shape 8"/>
          <p:cNvSpPr/>
          <p:nvPr/>
        </p:nvSpPr>
        <p:spPr>
          <a:xfrm>
            <a:off x="7461504" y="2980944"/>
            <a:ext cx="457200" cy="457200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08152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28432" y="276148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Fringe fixes are gated, not trusted</a:t>
            </a:r>
            <a:endParaRPr lang="en-US" sz="1180" dirty="0"/>
          </a:p>
        </p:txBody>
      </p:sp>
      <p:sp>
        <p:nvSpPr>
          <p:cNvPr id="15" name="Text 10"/>
          <p:cNvSpPr/>
          <p:nvPr/>
        </p:nvSpPr>
        <p:spPr>
          <a:xfrm>
            <a:off x="8028432" y="314553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array core, geometry degrades — every fix ships with an uncertainty ellipse and a quality gate.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7315200" y="3968496"/>
            <a:ext cx="4325112" cy="1170432"/>
          </a:xfrm>
          <a:prstGeom prst="roundRect">
            <a:avLst>
              <a:gd name="adj" fmla="val 6250"/>
            </a:avLst>
          </a:prstGeom>
          <a:solidFill>
            <a:srgbClr val="EEF2F8"/>
          </a:solidFill>
          <a:ln/>
        </p:spPr>
      </p:sp>
      <p:sp>
        <p:nvSpPr>
          <p:cNvPr id="17" name="Shape 12"/>
          <p:cNvSpPr/>
          <p:nvPr/>
        </p:nvSpPr>
        <p:spPr>
          <a:xfrm>
            <a:off x="7461504" y="4279392"/>
            <a:ext cx="457200" cy="457200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437997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028432" y="40599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 mode is even better</a:t>
            </a:r>
            <a:endParaRPr lang="en-US" sz="1180" dirty="0"/>
          </a:p>
        </p:txBody>
      </p:sp>
      <p:sp>
        <p:nvSpPr>
          <p:cNvPr id="20" name="Text 14"/>
          <p:cNvSpPr/>
          <p:nvPr/>
        </p:nvSpPr>
        <p:spPr>
          <a:xfrm>
            <a:off x="8028432" y="444398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per-node ranges (no sync) stabilize the solver — the deep reason to fuse cameras with microphones.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7315200" y="5266944"/>
            <a:ext cx="4325112" cy="1170432"/>
          </a:xfrm>
          <a:prstGeom prst="roundRect">
            <a:avLst>
              <a:gd name="adj" fmla="val 6250"/>
            </a:avLst>
          </a:prstGeom>
          <a:solidFill>
            <a:srgbClr val="EEF2F8"/>
          </a:solidFill>
          <a:ln/>
        </p:spPr>
      </p:sp>
      <p:sp>
        <p:nvSpPr>
          <p:cNvPr id="22" name="Shape 16"/>
          <p:cNvSpPr/>
          <p:nvPr/>
        </p:nvSpPr>
        <p:spPr>
          <a:xfrm>
            <a:off x="7461504" y="5577840"/>
            <a:ext cx="457200" cy="457200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8" y="56784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028432" y="535838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Context: the same method, tighter array</a:t>
            </a:r>
            <a:endParaRPr lang="en-US" sz="1180" dirty="0"/>
          </a:p>
        </p:txBody>
      </p:sp>
      <p:sp>
        <p:nvSpPr>
          <p:cNvPr id="25" name="Text 18"/>
          <p:cNvSpPr/>
          <p:nvPr/>
        </p:nvSpPr>
        <p:spPr>
          <a:xfrm>
            <a:off x="8028432" y="57424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Argonne's 16-node campus cluster, sibling sims hit 16–22 m median for impulsive sounds.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· THE ARCHIVE ALREADY HOLDS 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found a lightning fire 6 km from a listening node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federal WFIGS wildfire records (natural-cause, since 2023) cross-referenced against each fire-country node's actual data archive — run live on July 21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4160520"/>
          </a:xfrm>
          <a:prstGeom prst="roundRect">
            <a:avLst>
              <a:gd name="adj" fmla="val 2198"/>
            </a:avLst>
          </a:prstGeom>
          <a:solidFill>
            <a:srgbClr val="222E47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1323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0665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THE KITTEN FIRE — July 3, 2025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63040" y="239572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Natural-cause fire, Grand Teton country — discovered 6 km from node W06C, squarely inside thunder range. That same window, the node recorded:</a:t>
            </a:r>
            <a:endParaRPr lang="en-US" sz="1180" dirty="0"/>
          </a:p>
        </p:txBody>
      </p:sp>
      <p:sp>
        <p:nvSpPr>
          <p:cNvPr id="10" name="Text 7"/>
          <p:cNvSpPr/>
          <p:nvPr/>
        </p:nvSpPr>
        <p:spPr>
          <a:xfrm>
            <a:off x="822960" y="32461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779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377440" y="328269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clips (5.5-min cadence — a storm's thunder is almost certainly in them)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22960" y="4087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2,739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2377440" y="412394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PTZ-YOLO camera frames + thermal &amp; sky imagery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822960" y="492861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51,701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2377440" y="49651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records — full storm reconstruction, July 1–4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82296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needed for a post-hoc detection test — from data that already exists.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355080" y="1783080"/>
            <a:ext cx="5285232" cy="4160520"/>
          </a:xfrm>
          <a:prstGeom prst="roundRect">
            <a:avLst>
              <a:gd name="adj" fmla="val 2198"/>
            </a:avLst>
          </a:prstGeom>
          <a:solidFill>
            <a:srgbClr val="222E47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583680" y="2011680"/>
            <a:ext cx="548640" cy="548640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381" y="2132381"/>
            <a:ext cx="307238" cy="30723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269480" y="206654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THE SELMA BUST — July 8, 2025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7269480" y="239572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natural-cause fires discovered the same day, 14–22 km from node W067 in Oregon's Siskiyous — the classic lightning-bust signature. The node's archive holds:</a:t>
            </a:r>
            <a:endParaRPr lang="en-US" sz="1180" dirty="0"/>
          </a:p>
        </p:txBody>
      </p:sp>
      <p:sp>
        <p:nvSpPr>
          <p:cNvPr id="22" name="Text 18"/>
          <p:cNvSpPr/>
          <p:nvPr/>
        </p:nvSpPr>
        <p:spPr>
          <a:xfrm>
            <a:off x="6537960" y="32461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216</a:t>
            </a:r>
            <a:endParaRPr lang="en-US" sz="2500" dirty="0"/>
          </a:p>
        </p:txBody>
      </p:sp>
      <p:sp>
        <p:nvSpPr>
          <p:cNvPr id="23" name="Text 19"/>
          <p:cNvSpPr/>
          <p:nvPr/>
        </p:nvSpPr>
        <p:spPr>
          <a:xfrm>
            <a:off x="8092440" y="328269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 / left / bottom images, hourly — storm approach, then smoke columns</a:t>
            </a:r>
            <a:endParaRPr lang="en-US" sz="1080" dirty="0"/>
          </a:p>
        </p:txBody>
      </p:sp>
      <p:sp>
        <p:nvSpPr>
          <p:cNvPr id="24" name="Text 20"/>
          <p:cNvSpPr/>
          <p:nvPr/>
        </p:nvSpPr>
        <p:spPr>
          <a:xfrm>
            <a:off x="6537960" y="4087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25,911</a:t>
            </a:r>
            <a:endParaRPr lang="en-US" sz="2500" dirty="0"/>
          </a:p>
        </p:txBody>
      </p:sp>
      <p:sp>
        <p:nvSpPr>
          <p:cNvPr id="25" name="Text 21"/>
          <p:cNvSpPr/>
          <p:nvPr/>
        </p:nvSpPr>
        <p:spPr>
          <a:xfrm>
            <a:off x="8092440" y="412394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records incl. rain accumulation — the dry-lightning flag is testable on a storm that verifiably started fires</a:t>
            </a:r>
            <a:endParaRPr lang="en-US" sz="1080" dirty="0"/>
          </a:p>
        </p:txBody>
      </p:sp>
      <p:sp>
        <p:nvSpPr>
          <p:cNvPr id="26" name="Text 22"/>
          <p:cNvSpPr/>
          <p:nvPr/>
        </p:nvSpPr>
        <p:spPr>
          <a:xfrm>
            <a:off x="6537960" y="492861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fires</a:t>
            </a:r>
            <a:endParaRPr lang="en-US" sz="2500" dirty="0"/>
          </a:p>
        </p:txBody>
      </p:sp>
      <p:sp>
        <p:nvSpPr>
          <p:cNvPr id="27" name="Text 23"/>
          <p:cNvSpPr/>
          <p:nvPr/>
        </p:nvSpPr>
        <p:spPr>
          <a:xfrm>
            <a:off x="8092440" y="496519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storm: N Fork Deer Creek (39.8 ac), Holcomb Peak, Cedar Flat, Esterly Mine</a:t>
            </a:r>
            <a:endParaRPr lang="en-US" sz="1080" dirty="0"/>
          </a:p>
        </p:txBody>
      </p:sp>
      <p:sp>
        <p:nvSpPr>
          <p:cNvPr id="28" name="Text 24"/>
          <p:cNvSpPr/>
          <p:nvPr/>
        </p:nvSpPr>
        <p:spPr>
          <a:xfrm>
            <a:off x="6629400" y="5532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into camp with a validated retrospective result, not just a proposal.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548640" y="6263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NIFC WFIGS incident database × Sage data API archive counts (nodes W06C, W067).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REQUESTED FEATURE · WEATHER-CONDITIONED SENSING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 mode: always-on sensing when weather says so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566928" cy="56692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19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44752" y="1746504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406" y="1859158"/>
            <a:ext cx="286756" cy="2867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48840" y="157276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OUTLOOK — pre-arm</a:t>
            </a:r>
            <a:endParaRPr lang="en-US" sz="1380" dirty="0"/>
          </a:p>
        </p:txBody>
      </p:sp>
      <p:sp>
        <p:nvSpPr>
          <p:cNvPr id="10" name="Text 7"/>
          <p:cNvSpPr/>
          <p:nvPr/>
        </p:nvSpPr>
        <p:spPr>
          <a:xfrm>
            <a:off x="5486400" y="1554480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NWS / SPC convective &amp; fire-weather outlooks (free API). Nodes in the risk area load storm profiles and wait.</a:t>
            </a:r>
            <a:endParaRPr lang="en-US" sz="1120" dirty="0"/>
          </a:p>
        </p:txBody>
      </p:sp>
      <p:sp>
        <p:nvSpPr>
          <p:cNvPr id="11" name="Shape 8"/>
          <p:cNvSpPr/>
          <p:nvPr/>
        </p:nvSpPr>
        <p:spPr>
          <a:xfrm>
            <a:off x="548640" y="2660904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" y="2916936"/>
            <a:ext cx="566928" cy="566928"/>
          </a:xfrm>
          <a:prstGeom prst="ellipse">
            <a:avLst/>
          </a:prstGeom>
          <a:solidFill>
            <a:srgbClr val="F5B722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444752" y="29443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406" y="3057022"/>
            <a:ext cx="286756" cy="2867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48840" y="277063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 — arm</a:t>
            </a:r>
            <a:endParaRPr lang="en-US" sz="1380" dirty="0"/>
          </a:p>
        </p:txBody>
      </p:sp>
      <p:sp>
        <p:nvSpPr>
          <p:cNvPr id="17" name="Text 13"/>
          <p:cNvSpPr/>
          <p:nvPr/>
        </p:nvSpPr>
        <p:spPr>
          <a:xfrm>
            <a:off x="5486400" y="2752344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own sensors see the pressure fall and wind shift; lightning-network cells within ~100 km confirm. Snapshot samplers are swapped for continuous ring-buffer audio + video via Sage's job API.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548640" y="3858768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13232" y="4114800"/>
            <a:ext cx="566928" cy="56692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/>
          <p:nvPr/>
        </p:nvSpPr>
        <p:spPr>
          <a:xfrm>
            <a:off x="713232" y="4114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1444752" y="41422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406" y="4254886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2148840" y="3968496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 — full capture</a:t>
            </a:r>
            <a:endParaRPr lang="en-US" sz="1380" dirty="0"/>
          </a:p>
        </p:txBody>
      </p:sp>
      <p:sp>
        <p:nvSpPr>
          <p:cNvPr id="24" name="Text 19"/>
          <p:cNvSpPr/>
          <p:nvPr/>
        </p:nvSpPr>
        <p:spPr>
          <a:xfrm>
            <a:off x="5486400" y="3950208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flash or thunder locks storm mode: continuous capture, real-time strike mapping, live map — for the storm's duration plus 30 min.</a:t>
            </a:r>
            <a:endParaRPr lang="en-US" sz="1120" dirty="0"/>
          </a:p>
        </p:txBody>
      </p:sp>
      <p:sp>
        <p:nvSpPr>
          <p:cNvPr id="25" name="Shape 20"/>
          <p:cNvSpPr/>
          <p:nvPr/>
        </p:nvSpPr>
        <p:spPr>
          <a:xfrm>
            <a:off x="548640" y="5056632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13232" y="5312664"/>
            <a:ext cx="566928" cy="56692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7" name="Text 22"/>
          <p:cNvSpPr/>
          <p:nvPr/>
        </p:nvSpPr>
        <p:spPr>
          <a:xfrm>
            <a:off x="713232" y="53126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Shape 23"/>
          <p:cNvSpPr/>
          <p:nvPr/>
        </p:nvSpPr>
        <p:spPr>
          <a:xfrm>
            <a:off x="1444752" y="5340096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406" y="5452750"/>
            <a:ext cx="286756" cy="28675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148840" y="51663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AFTERMATH — 72 h holdover watch</a:t>
            </a:r>
            <a:endParaRPr lang="en-US" sz="1380" dirty="0"/>
          </a:p>
        </p:txBody>
      </p:sp>
      <p:sp>
        <p:nvSpPr>
          <p:cNvPr id="31" name="Text 25"/>
          <p:cNvSpPr/>
          <p:nvPr/>
        </p:nvSpPr>
        <p:spPr>
          <a:xfrm>
            <a:off x="5486400" y="5148072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revert to save power &amp; storage. PTZ cameras physically re-aim along each logged strike bearing; smoke detection gets GPU priority; a vision model reviews strike sectors daily.</a:t>
            </a:r>
            <a:endParaRPr lang="en-US" sz="1120" dirty="0"/>
          </a:p>
        </p:txBody>
      </p:sp>
      <p:sp>
        <p:nvSpPr>
          <p:cNvPr id="32" name="Text 26"/>
          <p:cNvSpPr/>
          <p:nvPr/>
        </p:nvSpPr>
        <p:spPr>
          <a:xfrm>
            <a:off x="548640" y="63093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C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storage, thermal &amp; shared-GPU budgets · hard caps on continuous hours · auto-revert on timeout · every mode change audit-logged with its trigger. Sensing effort is spent exactly where information lives — the token-economy idea, applied to physics.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STRIKE TO RESPONDER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strike is scored for ignition risk — then a human decides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99720" y="16002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00988" y="1847088"/>
            <a:ext cx="603504" cy="603504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3758" y="1979859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1160" y="257860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Strike localized</a:t>
            </a:r>
            <a:endParaRPr lang="en-US" sz="1380" dirty="0"/>
          </a:p>
        </p:txBody>
      </p:sp>
      <p:sp>
        <p:nvSpPr>
          <p:cNvPr id="8" name="Text 5"/>
          <p:cNvSpPr/>
          <p:nvPr/>
        </p:nvSpPr>
        <p:spPr>
          <a:xfrm>
            <a:off x="682600" y="2926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uncertainty ellipse from the fusion engine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3361792" y="16002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63060" y="1847088"/>
            <a:ext cx="603504" cy="603504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30" y="1979859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53232" y="257860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Dry-lightning flag</a:t>
            </a:r>
            <a:endParaRPr lang="en-US" sz="1380" dirty="0"/>
          </a:p>
        </p:txBody>
      </p:sp>
      <p:sp>
        <p:nvSpPr>
          <p:cNvPr id="13" name="Text 9"/>
          <p:cNvSpPr/>
          <p:nvPr/>
        </p:nvSpPr>
        <p:spPr>
          <a:xfrm>
            <a:off x="3544672" y="2926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own rain gauge: strike with &lt; 2.5 mm rain = the dangerous kind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6223864" y="16002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5132" y="1847088"/>
            <a:ext cx="603504" cy="603504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902" y="1979859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15304" y="257860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dryness</a:t>
            </a:r>
            <a:endParaRPr lang="en-US" sz="1380" dirty="0"/>
          </a:p>
        </p:txBody>
      </p:sp>
      <p:sp>
        <p:nvSpPr>
          <p:cNvPr id="18" name="Text 13"/>
          <p:cNvSpPr/>
          <p:nvPr/>
        </p:nvSpPr>
        <p:spPr>
          <a:xfrm>
            <a:off x="6406744" y="2926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days-since-rain locally + public fire-danger indices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9085936" y="16002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87204" y="1847088"/>
            <a:ext cx="603504" cy="603504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9974" y="1979859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77376" y="257860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 card</a:t>
            </a:r>
            <a:endParaRPr lang="en-US" sz="1380" dirty="0"/>
          </a:p>
        </p:txBody>
      </p:sp>
      <p:sp>
        <p:nvSpPr>
          <p:cNvPr id="23" name="Text 17"/>
          <p:cNvSpPr/>
          <p:nvPr/>
        </p:nvSpPr>
        <p:spPr>
          <a:xfrm>
            <a:off x="9268816" y="2926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time, risk score, follow-up smoke-check schedule — to a human review queue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151C2C"/>
          </a:solidFill>
          <a:ln/>
        </p:spPr>
      </p:sp>
      <p:sp>
        <p:nvSpPr>
          <p:cNvPr id="25" name="Shape 19"/>
          <p:cNvSpPr/>
          <p:nvPr/>
        </p:nvSpPr>
        <p:spPr>
          <a:xfrm>
            <a:off x="822960" y="4800600"/>
            <a:ext cx="640080" cy="640080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8" y="494141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9164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aid-routing, engineered for trust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1691640" y="491947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before anything is dispatched — no automated response.   ·   Published error bars on every fix — no accuracy theater.   ·   Raw audio/video processed and discarded on-node; only events leave.   ·   Full audit log of every alert and its disposition.</a:t>
            </a:r>
            <a:endParaRPr lang="en-US" sz="11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MUST LIVE AT THE 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AI isn't a feature here — it's the load-bearing wall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0352" cy="530352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317" y="1598005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45389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runs on the node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298448" y="17830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 DSP gate (CPU) triggers a spectrogram classifier (GPU) in tens of milliseconds — flash and thunder are found where the sensors are.</a:t>
            </a:r>
            <a:endParaRPr lang="en-US" sz="123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530352" cy="530352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17" y="276843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262432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10,000× data reduction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98448" y="295351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audio ≈ 8 MB/min/node; a strike event is ~300 bytes. Events, not streams, cross the backhaul — that's what makes 100+ remote nodes affordable.</a:t>
            </a:r>
            <a:endParaRPr lang="en-US" sz="1230" dirty="0"/>
          </a:p>
        </p:txBody>
      </p:sp>
      <p:sp>
        <p:nvSpPr>
          <p:cNvPr id="12" name="Shape 8"/>
          <p:cNvSpPr/>
          <p:nvPr/>
        </p:nvSpPr>
        <p:spPr>
          <a:xfrm>
            <a:off x="548640" y="3822192"/>
            <a:ext cx="530352" cy="530352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17" y="3938869"/>
            <a:ext cx="296997" cy="2969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98448" y="379476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when the network doesn't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298448" y="4123944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fire country loses backhaul first. An edge node keeps sensing, localizing, and logging through the outage — and syncs when the link returns.</a:t>
            </a:r>
            <a:endParaRPr lang="en-US" sz="1230" dirty="0"/>
          </a:p>
        </p:txBody>
      </p:sp>
      <p:sp>
        <p:nvSpPr>
          <p:cNvPr id="16" name="Shape 11"/>
          <p:cNvSpPr/>
          <p:nvPr/>
        </p:nvSpPr>
        <p:spPr>
          <a:xfrm>
            <a:off x="548640" y="4992624"/>
            <a:ext cx="530352" cy="530352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17" y="5109301"/>
            <a:ext cx="296997" cy="29699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98448" y="496519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models first, big models rarely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298448" y="5294376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On-Thor models draft incident cards and screen events; a frontier model is consulted only for the ambiguous few — the camp's token-economy philosophy, in production form.</a:t>
            </a:r>
            <a:endParaRPr lang="en-US" sz="1230" dirty="0"/>
          </a:p>
        </p:txBody>
      </p:sp>
      <p:sp>
        <p:nvSpPr>
          <p:cNvPr id="20" name="Text 14"/>
          <p:cNvSpPr/>
          <p:nvPr/>
        </p:nvSpPr>
        <p:spPr>
          <a:xfrm>
            <a:off x="548640" y="6126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C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is structural, not procedural: microphones in public space never ship audio — only "thunder, 14:32:07.412, confidence 0.93."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DEMO INSURANCE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is free — the demo survives blue skies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ground truth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47" y="2024847"/>
            <a:ext cx="266273" cy="2662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90195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Blitzortung community lightning network — free live + historical strike feed to score every fix against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89504"/>
            <a:ext cx="475488" cy="475488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47" y="2994111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87121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GOES GLM satellite lightning mapper — independent detection recall check from orbit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3858768"/>
            <a:ext cx="475488" cy="475488"/>
          </a:xfrm>
          <a:prstGeom prst="ellipse">
            <a:avLst/>
          </a:prstGeom>
          <a:solidFill>
            <a:srgbClr val="3F8F5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" y="3963375"/>
            <a:ext cx="266273" cy="26627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3840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own weather station — dry vs. wet lightning, per strike, on the spot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4983480"/>
            <a:ext cx="5440680" cy="123444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/>
        </p:spPr>
      </p:sp>
      <p:sp>
        <p:nvSpPr>
          <p:cNvPr id="15" name="Text 10"/>
          <p:cNvSpPr/>
          <p:nvPr/>
        </p:nvSpPr>
        <p:spPr>
          <a:xfrm>
            <a:off x="731520" y="512064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buNone/>
            </a:pPr>
            <a:r>
              <a:rPr lang="en-US" sz="113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strikes to Blitzortung/GLM, report error CDF in-core vs. fringe, and quantify what storm mode captured that snapshot cadence would have missed — the number that justifies the whole idea.</a:t>
            </a:r>
            <a:endParaRPr lang="en-US" sz="1130" dirty="0"/>
          </a:p>
        </p:txBody>
      </p:sp>
      <p:sp>
        <p:nvSpPr>
          <p:cNvPr id="16" name="Text 11"/>
          <p:cNvSpPr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storm during demo week?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92240" y="1920240"/>
            <a:ext cx="5148072" cy="1298448"/>
          </a:xfrm>
          <a:prstGeom prst="roundRect">
            <a:avLst>
              <a:gd name="adj" fmla="val 5634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656832" y="2304288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439" y="2408895"/>
            <a:ext cx="266273" cy="26627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269480" y="20299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 harness</a:t>
            </a:r>
            <a:endParaRPr lang="en-US" sz="1280" dirty="0"/>
          </a:p>
        </p:txBody>
      </p:sp>
      <p:sp>
        <p:nvSpPr>
          <p:cNvPr id="21" name="Text 15"/>
          <p:cNvSpPr/>
          <p:nvPr/>
        </p:nvSpPr>
        <p:spPr>
          <a:xfrm>
            <a:off x="7269480" y="2359152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Blitzortung storm streams + synthetic onsets drive the full pipeline end-to-end — live map, alerts, everything — without weather.</a:t>
            </a:r>
            <a:endParaRPr lang="en-US" sz="1070" dirty="0"/>
          </a:p>
        </p:txBody>
      </p:sp>
      <p:sp>
        <p:nvSpPr>
          <p:cNvPr id="22" name="Shape 16"/>
          <p:cNvSpPr/>
          <p:nvPr/>
        </p:nvSpPr>
        <p:spPr>
          <a:xfrm>
            <a:off x="6492240" y="3364992"/>
            <a:ext cx="5148072" cy="1298448"/>
          </a:xfrm>
          <a:prstGeom prst="roundRect">
            <a:avLst>
              <a:gd name="adj" fmla="val 5634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656832" y="3749040"/>
            <a:ext cx="475488" cy="475488"/>
          </a:xfrm>
          <a:prstGeom prst="ellipse">
            <a:avLst/>
          </a:prstGeom>
          <a:solidFill>
            <a:srgbClr val="F5B722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439" y="3853647"/>
            <a:ext cx="266273" cy="26627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269480" y="347472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 rig</a:t>
            </a:r>
            <a:endParaRPr lang="en-US" sz="1280" dirty="0"/>
          </a:p>
        </p:txBody>
      </p:sp>
      <p:sp>
        <p:nvSpPr>
          <p:cNvPr id="26" name="Text 19"/>
          <p:cNvSpPr/>
          <p:nvPr/>
        </p:nvSpPr>
        <p:spPr>
          <a:xfrm>
            <a:off x="7269480" y="3803904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strobe + speaker playing thunder at measured distances validates flash-to-bang ranging in a parking lot.</a:t>
            </a:r>
            <a:endParaRPr lang="en-US" sz="1070" dirty="0"/>
          </a:p>
        </p:txBody>
      </p:sp>
      <p:sp>
        <p:nvSpPr>
          <p:cNvPr id="27" name="Shape 20"/>
          <p:cNvSpPr/>
          <p:nvPr/>
        </p:nvSpPr>
        <p:spPr>
          <a:xfrm>
            <a:off x="6492240" y="4809744"/>
            <a:ext cx="5148072" cy="1298448"/>
          </a:xfrm>
          <a:prstGeom prst="roundRect">
            <a:avLst>
              <a:gd name="adj" fmla="val 5634"/>
            </a:avLst>
          </a:prstGeom>
          <a:solidFill>
            <a:srgbClr val="EEF2F8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656832" y="5193792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439" y="5298399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69480" y="49194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odds are decent anyway</a:t>
            </a:r>
            <a:endParaRPr lang="en-US" sz="1280" dirty="0"/>
          </a:p>
        </p:txBody>
      </p:sp>
      <p:sp>
        <p:nvSpPr>
          <p:cNvPr id="31" name="Text 23"/>
          <p:cNvSpPr/>
          <p:nvPr/>
        </p:nvSpPr>
        <p:spPr>
          <a:xfrm>
            <a:off x="7269480" y="5248656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in late July averages a thunderstorm every few days — the lab array sits under one of the stormiest weeks on the calendar.</a:t>
            </a:r>
            <a:endParaRPr lang="en-US" sz="10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HACKATHON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days from zero to live strike map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7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36192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+ thunder detectors on ring-buffer frames &amp; audio (shares EchoGuard's onset stack)</a:t>
            </a:r>
            <a:endParaRPr lang="en-US" sz="1260" dirty="0"/>
          </a:p>
        </p:txBody>
      </p:sp>
      <p:sp>
        <p:nvSpPr>
          <p:cNvPr id="7" name="Shape 5"/>
          <p:cNvSpPr/>
          <p:nvPr/>
        </p:nvSpPr>
        <p:spPr>
          <a:xfrm>
            <a:off x="548640" y="2267712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2860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flash-to-bang range engine + flash↔thunder pairing by azimuth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03580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Storm-mode controller wired to NWS outlooks, approach triggers &amp; the Sage job API</a:t>
            </a:r>
            <a:endParaRPr lang="en-US" sz="1260" dirty="0"/>
          </a:p>
        </p:txBody>
      </p:sp>
      <p:sp>
        <p:nvSpPr>
          <p:cNvPr id="13" name="Shape 11"/>
          <p:cNvSpPr/>
          <p:nvPr/>
        </p:nvSpPr>
        <p:spPr>
          <a:xfrm>
            <a:off x="548640" y="3767328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67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785616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fusion with quality gating + live strike map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75488" cy="475488"/>
          </a:xfrm>
          <a:prstGeom prst="ellipse">
            <a:avLst/>
          </a:prstGeom>
          <a:solidFill>
            <a:srgbClr val="2C3A5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5354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72-h holdover watch: PTZ re-aim + smoke priority; responder notification cards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548640" y="5266944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5285232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freeze · Kitten Fire retrospective · poster &amp; 5-min demo</a:t>
            </a:r>
            <a:endParaRPr lang="en-US" sz="1260" dirty="0"/>
          </a:p>
        </p:txBody>
      </p:sp>
      <p:sp>
        <p:nvSpPr>
          <p:cNvPr id="22" name="Shape 20"/>
          <p:cNvSpPr/>
          <p:nvPr/>
        </p:nvSpPr>
        <p:spPr>
          <a:xfrm>
            <a:off x="7955280" y="1517904"/>
            <a:ext cx="3685032" cy="3154680"/>
          </a:xfrm>
          <a:prstGeom prst="roundRect">
            <a:avLst>
              <a:gd name="adj" fmla="val 2899"/>
            </a:avLst>
          </a:prstGeom>
          <a:solidFill>
            <a:srgbClr val="151C2C"/>
          </a:solidFill>
          <a:ln/>
          <a:effectLst>
            <a:outerShdw sx="100000" sy="100000" kx="0" ky="0" algn="bl" rotWithShape="0" blurRad="76200" dist="25400" dir="5400000">
              <a:srgbClr val="9AA7BA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83880" y="17373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 deliverables, covered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183880" y="2148840"/>
            <a:ext cx="32461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 apps: </a:t>
            </a:r>
            <a:pPr indent="0" marL="0">
              <a:spcAft>
                <a:spcPts val="800"/>
              </a:spcAft>
              <a:buNone/>
            </a:pPr>
            <a:r>
              <a:rPr lang="en-US" sz="113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flash/thunder detector + the storm-mode controller (reusable far beyond lightning)
</a:t>
            </a:r>
            <a:pPr indent="0" marL="0">
              <a:spcAft>
                <a:spcPts val="800"/>
              </a:spcAft>
              <a:buNone/>
            </a:pPr>
            <a:r>
              <a:rPr lang="en-US" sz="11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hermes-profile/: </a:t>
            </a:r>
            <a:pPr indent="0" marL="0">
              <a:spcAft>
                <a:spcPts val="800"/>
              </a:spcAft>
              <a:buNone/>
            </a:pPr>
            <a:r>
              <a:rPr lang="en-US" sz="113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policies + notification tools for the shared Sage agent
</a:t>
            </a:r>
            <a:pPr indent="0" marL="0">
              <a:spcAft>
                <a:spcPts val="800"/>
              </a:spcAft>
              <a:buNone/>
            </a:pPr>
            <a:r>
              <a:rPr lang="en-US" sz="11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Writeup: </a:t>
            </a:r>
            <a:pPr indent="0" marL="0">
              <a:spcAft>
                <a:spcPts val="800"/>
              </a:spcAft>
              <a:buNone/>
            </a:pPr>
            <a:r>
              <a:rPr lang="en-US" sz="113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census + archive case studies = a verified-feasibility spine
</a:t>
            </a:r>
            <a:pPr indent="0" marL="0">
              <a:spcAft>
                <a:spcPts val="800"/>
              </a:spcAft>
              <a:buNone/>
            </a:pPr>
            <a:r>
              <a:rPr lang="en-US" sz="11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Poster: </a:t>
            </a:r>
            <a:pPr indent="0" marL="0">
              <a:spcAft>
                <a:spcPts val="800"/>
              </a:spcAft>
              <a:buNone/>
            </a:pPr>
            <a:r>
              <a:rPr lang="en-US" sz="113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map, storm-mode capture gain, Kitten Fire timeline
</a:t>
            </a:r>
            <a:pPr indent="0" marL="0">
              <a:spcAft>
                <a:spcPts val="800"/>
              </a:spcAft>
              <a:buNone/>
            </a:pPr>
            <a:r>
              <a:rPr lang="en-US" sz="11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pPr indent="0" marL="0">
              <a:spcAft>
                <a:spcPts val="800"/>
              </a:spcAft>
              <a:buNone/>
            </a:pPr>
            <a:r>
              <a:rPr lang="en-US" sz="113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 — DSP/edge · controller/agent · fusion/geometry · validation/demo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fleet is built. The physics is free.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archive already holds the proof.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700888" y="2606040"/>
            <a:ext cx="3383280" cy="1783080"/>
          </a:xfrm>
          <a:prstGeom prst="roundRect">
            <a:avLst>
              <a:gd name="adj" fmla="val 5128"/>
            </a:avLst>
          </a:prstGeom>
          <a:solidFill>
            <a:srgbClr val="222E47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00888" y="27614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B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+ 51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29488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camera nodes in one connected Chicagoland array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4404208" y="2606040"/>
            <a:ext cx="3383280" cy="1783080"/>
          </a:xfrm>
          <a:prstGeom prst="roundRect">
            <a:avLst>
              <a:gd name="adj" fmla="val 5128"/>
            </a:avLst>
          </a:prstGeom>
          <a:solidFill>
            <a:srgbClr val="222E47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04208" y="27614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5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216 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632808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strike error simulated on real coordinates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8107528" y="2606040"/>
            <a:ext cx="3383280" cy="1783080"/>
          </a:xfrm>
          <a:prstGeom prst="roundRect">
            <a:avLst>
              <a:gd name="adj" fmla="val 5128"/>
            </a:avLst>
          </a:prstGeom>
          <a:solidFill>
            <a:srgbClr val="222E47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107528" y="27614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779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336128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8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clips recorded beside the Kitten Fire, July 2025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1280160" y="480060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data pull → Kitten Fire retrospective (did the node hear the storm that started it?) → build the storm-mode controller with a camp team.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 · Sage Summer Camp 2026 · Samuel Watson · sources: Sage manifests &amp; data API, NIFC WFIGS, NWS, Blitzortung, GOES GLM — all queried live July 21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2026-07-21T22:28:52Z</dcterms:created>
  <dcterms:modified xsi:type="dcterms:W3CDTF">2026-07-21T22:28:52Z</dcterms:modified>
</cp:coreProperties>
</file>