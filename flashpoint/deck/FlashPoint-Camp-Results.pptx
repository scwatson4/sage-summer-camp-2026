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 s] Sage FlashPoint turns the fleet's existing cameras, microphones and weather stations into a lightning-detection and wildfire ignition-watch system. Every result shown was built and validated during camp week, on real archived fleet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 s] The flagship case. The Kitten Fire started six kilometers from a Sage node that was recording the whole time — audio, imagery, weather. The timeline shows what its microphone heard: a bone-dry night storm, a second storm the next evening, and the fire discovered midday after. All the evidence was there. Nothing was listening for it. That's the gap FlashPoint closes.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 s] First result: a negative one, and the most important. The audio-only detector found 17 thunder events and was confident about every single one. Two independent satellite lightning sensors falsified all seventeen — zero flashes within fifty kilometers. The raw recording lives in the repository — it fools human ears too. Hence FlashPoint's rule: no single sensor ever confirms a strike on its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 s] The recovery: a satellite scan found the real ignition storm — closest flash 3.1 kilometers from the fire point. Knowing exactly when each flash happened, the detector re-listened in the narrow window where its thunder had to arrive — and 22 real arrivals surfaced from under the rain noise. The rebuilt noise-adaptive detector recovers 20 of the 22 with sub-kilometer range error. The volley recording in the repository holds three separate strikes — three rumbles, each at its predicted delay.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 s] How localization works with zero new hardware: light is effectively instant, so the flash gives every node its own clock. Time-to-thunder gives range; ranges from several nodes give a position with an honest uncertainty ellipse. The integration test localizes a strike to 96 meters with no satellite and no synchronization. The map shows the full engine fusing a replayed test storm over real Argonne geometry — five for five, all clean fixes.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 s] Detection only matters if the fleet is actually listening when the storm comes. The storm-mode controller escalates through tiers — free forecasts arm it, local evidence escalates it, everything is budget-capped and audit-logged. Replayed on the real Kitten storm it armed two hours and 25 minutes before the first local flash. And here's the motivation frame: during the ignition storm the node's steerable camera was pointed at a cabin wall. Storm mode fixes the tasking. Equally important is the honest half: siting. That camera may never have had a sightline at all — a fleet-design recommendation now returned to 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 s] After a strike, the watch: the camera patrols strike sectors on a risk-ranked schedule, and evidence always ships as raw plus annotated pairs — detection boxes are never burned into the only copy, a lesson learned from this very archive. The boxed detection on this slide is a test-harness placeholder; the smoke model itself is future work. Alerts go to Slack scored and explained, and a human clicks confirm or reject. Those clicks flow back to the node and double as labeled training data. Nothing is ever auto-dispatched.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 s] Case two proves the risk side with met data alone. Near Selma, Oregon, fourteen natural-cause fires were discovered in a single day. The node's own rain gauge: six hundredths of a millimeter across five days, under a 37-degree heat spike — and its only uptick lands exactly on the fire line. That's the ignition storm passing, essentially dry. The transparent risk score already separates cleanly: both real ignition storms score hot, both controls score 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 s] The ledger. Built this week: the full chain — detectors, an edge plugin that already ran on a Sage node and published candidates to the cloud, a first neural probe at 0.95 AUC, the controller, fusion, and the human-review loop, all tested. Found for Sage: real fleet gaps, including zero soil moisture sensors anywhere, and the camera-siting constraint. The fleet-history catalog behind two of the middle-column findings read seven million satellite lightning granules and ranks 448 fire-and-node pairs for follow-up — the Kitten Fire lands at number four, which validates the ranking. And the limitations, stated plainly: one real storm behind the audio numbers, replay-test-only validation for fusion, ground truth coarser than the precision claims — hence the Vaisala research request, submitted July 24 and still awaiting approval — several fire-country node archives that likely hold more storm and fire cases stayed closed to read access, and live PTZ control still untested: the sandbox camera was reachable over an SSH tunnel, but control permissions were not granted, so re-aim runs in test mode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 s] The fleet already hears the storms — FlashPoint makes it listen. Next: NLDN ground truth is already requested, reviewer clicks are already accumulating as training labels, and the same controller re-armed on wind triggers becomes the Hawaiʻi deployment on HCDP mesonet feeds. Everything — code, data, and the actual thunder recordings — is in the repo.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[Optional / Q&amp;A] The operating picture this grows into: a fleet-level orchestrator at Beehive with whole-board visibility moves nodes through five states — quiet watch, always-on capture, triangulation, smoke watch, notify — with every transition condition explicit and every action logged. The footnote separates what runs today from planned hardware.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[Optional / Q&amp;A] The same five-state flow as the previous slide, drawn in the Sage documentation style: the Beehive cloud container on top, the node states left to right beneath it. Content is identical — use whichever version reads better for the audience. The footnote again separates what runs today from planned hardware.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[Backup — show only if siting or tasking questions come up in Q&amp;A. Second, independent example: this node's fixed camera flagged the plume with its production detector while the steerable camera studied canopy the same day. Tasking, not camera capability, is the gap the storm-mode controller closes.]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5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4.png"/><Relationship Id="rId5" Type="http://schemas.openxmlformats.org/officeDocument/2006/relationships/image" Target="../media/image-1-2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2443277"/>
            <a:ext cx="2103120" cy="1514246"/>
          </a:xfrm>
          <a:prstGeom prst="ellipse">
            <a:avLst/>
          </a:prstGeom>
          <a:ln w="15875">
            <a:solidFill>
              <a:srgbClr val="56618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1850746"/>
            <a:ext cx="3749040" cy="2699309"/>
          </a:xfrm>
          <a:prstGeom prst="ellipse">
            <a:avLst/>
          </a:prstGeom>
          <a:ln w="15875">
            <a:solidFill>
              <a:srgbClr val="4653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258214"/>
            <a:ext cx="5394960" cy="3884371"/>
          </a:xfrm>
          <a:prstGeom prst="ellipse">
            <a:avLst/>
          </a:prstGeom>
          <a:ln w="15875">
            <a:solidFill>
              <a:srgbClr val="3A476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0" y="665683"/>
            <a:ext cx="7040880" cy="5069434"/>
          </a:xfrm>
          <a:prstGeom prst="ellipse">
            <a:avLst/>
          </a:prstGeom>
          <a:ln w="15875">
            <a:solidFill>
              <a:srgbClr val="2C3752"/>
            </a:solidFill>
            <a:prstDash val="solid"/>
          </a:ln>
        </p:spPr>
      </p:sp>
      <p:pic>
        <p:nvPicPr>
          <p:cNvPr id="6" name="Image 0" descr="Lightning strik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1976" y="2852928"/>
            <a:ext cx="475488" cy="694944"/>
          </a:xfrm>
          <a:prstGeom prst="rect">
            <a:avLst/>
          </a:prstGeom>
        </p:spPr>
      </p:pic>
      <p:pic>
        <p:nvPicPr>
          <p:cNvPr id="7" name="Image 1" descr="Sage sensor n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2093976"/>
            <a:ext cx="365760" cy="603504"/>
          </a:xfrm>
          <a:prstGeom prst="rect">
            <a:avLst/>
          </a:prstGeom>
        </p:spPr>
      </p:pic>
      <p:pic>
        <p:nvPicPr>
          <p:cNvPr id="8" name="Image 2" descr="Sage sensor n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2313432"/>
            <a:ext cx="365760" cy="603504"/>
          </a:xfrm>
          <a:prstGeom prst="rect">
            <a:avLst/>
          </a:prstGeom>
        </p:spPr>
      </p:pic>
      <p:pic>
        <p:nvPicPr>
          <p:cNvPr id="9" name="Image 3" descr="Sage sensor nod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4178808"/>
            <a:ext cx="365760" cy="603504"/>
          </a:xfrm>
          <a:prstGeom prst="rect">
            <a:avLst/>
          </a:prstGeom>
        </p:spPr>
      </p:pic>
      <p:pic>
        <p:nvPicPr>
          <p:cNvPr id="10" name="Image 4" descr="Sage sensor nod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0" y="3739896"/>
            <a:ext cx="365760" cy="603504"/>
          </a:xfrm>
          <a:prstGeom prst="rect">
            <a:avLst/>
          </a:prstGeom>
        </p:spPr>
      </p:pic>
      <p:sp>
        <p:nvSpPr>
          <p:cNvPr id="11" name="Text 4"/>
          <p:cNvSpPr/>
          <p:nvPr/>
        </p:nvSpPr>
        <p:spPr>
          <a:xfrm>
            <a:off x="9464040" y="33101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= Δt × 343 m/s</a:t>
            </a:r>
            <a:endParaRPr lang="en-US" sz="1000" dirty="0"/>
          </a:p>
        </p:txBody>
      </p:sp>
      <p:sp>
        <p:nvSpPr>
          <p:cNvPr id="12" name="Text 5"/>
          <p:cNvSpPr/>
          <p:nvPr/>
        </p:nvSpPr>
        <p:spPr>
          <a:xfrm>
            <a:off x="502920" y="15544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Sage FlashPoint</a:t>
            </a:r>
            <a:endParaRPr lang="en-US" sz="5000" dirty="0"/>
          </a:p>
        </p:txBody>
      </p:sp>
      <p:sp>
        <p:nvSpPr>
          <p:cNvPr id="13" name="Text 6"/>
          <p:cNvSpPr/>
          <p:nvPr/>
        </p:nvSpPr>
        <p:spPr>
          <a:xfrm>
            <a:off x="502920" y="2542032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Multi-node lightning localization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wildfire ignition watch on the Sage fleet</a:t>
            </a:r>
            <a:endParaRPr lang="en-US" sz="2000" dirty="0"/>
          </a:p>
        </p:txBody>
      </p:sp>
      <p:sp>
        <p:nvSpPr>
          <p:cNvPr id="14" name="Text 7"/>
          <p:cNvSpPr/>
          <p:nvPr/>
        </p:nvSpPr>
        <p:spPr>
          <a:xfrm>
            <a:off x="502920" y="3611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i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Cameras catch the flash. </a:t>
            </a:r>
            <a:pPr indent="0" marL="0">
              <a:lnSpc>
                <a:spcPct val="120000"/>
              </a:lnSpc>
              <a:buNone/>
            </a:pPr>
            <a:r>
              <a:rPr lang="en-US" sz="1500" b="1" i="1" dirty="0">
                <a:solidFill>
                  <a:srgbClr val="EB68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Microphones catch the thunder. </a:t>
            </a:r>
            <a:pPr indent="0" marL="0">
              <a:lnSpc>
                <a:spcPct val="120000"/>
              </a:lnSpc>
              <a:buNone/>
            </a:pPr>
            <a:r>
              <a:rPr lang="en-US" sz="1500" b="1" i="1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 decides when to listen.</a:t>
            </a:r>
            <a:endParaRPr lang="en-US" sz="1500" dirty="0"/>
          </a:p>
        </p:txBody>
      </p:sp>
      <p:pic>
        <p:nvPicPr>
          <p:cNvPr id="15" name="Image 5" descr="Sage, University of Hawaii at Manoa, University of Illinois Chicago, Northwestern University, NASA Earthdat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4791456"/>
            <a:ext cx="8485632" cy="640080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502920" y="577900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Samuel Watson  ·  University of Hawaiʻi at Mānoa  ·  Sage Summer Camp 2026 hackathon</a:t>
            </a:r>
            <a:endParaRPr lang="en-US" sz="1150" dirty="0"/>
          </a:p>
        </p:txBody>
      </p:sp>
      <p:sp>
        <p:nvSpPr>
          <p:cNvPr id="17" name="Text 9"/>
          <p:cNvSpPr/>
          <p:nvPr/>
        </p:nvSpPr>
        <p:spPr>
          <a:xfrm>
            <a:off x="502920" y="610819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work was supported in part by the National Science Foundation under Awards No. 2331263 and 2436842.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Sage node heard the fire start. Nobody was listening.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1463040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Kitten Fire — Grand Teton WY, natural cause, discovered midday July 3 2025, six kilometers from node W06C.</a:t>
            </a:r>
            <a:endParaRPr lang="en-US" sz="1500" dirty="0"/>
          </a:p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node recorded straight through both suspect storms: audio snapshots, PTZ (pan-tilt-zoom) camera frames, full weather telemetry.</a:t>
            </a:r>
            <a:endParaRPr lang="en-US" sz="1500" dirty="0"/>
          </a:p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5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Holdover fires smolder for hours or days before flaring. The strike is the earliest possible warning — and today nothing connects strikes to a follow-up watch.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4983480"/>
            <a:ext cx="1371600" cy="1042416"/>
          </a:xfrm>
          <a:prstGeom prst="roundRect">
            <a:avLst>
              <a:gd name="adj" fmla="val 7018"/>
            </a:avLst>
          </a:prstGeom>
          <a:solidFill>
            <a:srgbClr val="1D2740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0936" y="5056632"/>
            <a:ext cx="1115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km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30936" y="560527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 to fire point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002536" y="4983480"/>
            <a:ext cx="1371600" cy="1042416"/>
          </a:xfrm>
          <a:prstGeom prst="roundRect">
            <a:avLst>
              <a:gd name="adj" fmla="val 7018"/>
            </a:avLst>
          </a:prstGeom>
          <a:solidFill>
            <a:srgbClr val="1D2740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30552" y="5056632"/>
            <a:ext cx="1115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B68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779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130552" y="560527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 clips, July 1–4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502152" y="4983480"/>
            <a:ext cx="1371600" cy="1042416"/>
          </a:xfrm>
          <a:prstGeom prst="roundRect">
            <a:avLst>
              <a:gd name="adj" fmla="val 7018"/>
            </a:avLst>
          </a:prstGeom>
          <a:solidFill>
            <a:srgbClr val="1D2740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30168" y="5056632"/>
            <a:ext cx="1115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51k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630168" y="560527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 records</a:t>
            </a:r>
            <a:endParaRPr lang="en-US" sz="1150" dirty="0"/>
          </a:p>
        </p:txBody>
      </p:sp>
      <p:pic>
        <p:nvPicPr>
          <p:cNvPr id="14" name="Image 0" descr="/home/user/sage-summer-camp-2026/flashpoint/docs/m1-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331720"/>
            <a:ext cx="6675120" cy="2459736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5029200" y="4956048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518 classified clips: a DRY night storm (0.0 mm rain) and a second storm the next evening — then the discovery line.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FALSIFICATION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confident detections. Two satellites. Zero survivors.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1481328"/>
            <a:ext cx="4023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D0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/ 17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502920" y="2651760"/>
            <a:ext cx="4206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Audio-only detector v0 flagged 17 thunder events across the storm nights — all confident, none wind-vetoed.</a:t>
            </a:r>
            <a:endParaRPr lang="en-US" sz="1500" dirty="0"/>
          </a:p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Cross-checked against BOTH GOES-18 and GOES-19 (Geostationary Operational Environmental Satellites) lightning sensors — ±90-second window: not one flash within 50 km of any of them.</a:t>
            </a:r>
            <a:endParaRPr lang="en-US" sz="150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Single-modality detection false-alarms confidently.</a:t>
            </a:r>
            <a:endParaRPr lang="en-US" sz="1500" dirty="0"/>
          </a:p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5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result became the architecture: standalone detections are nominations — never confirmations.</a:t>
            </a:r>
            <a:endParaRPr lang="en-US" sz="1500" dirty="0"/>
          </a:p>
        </p:txBody>
      </p:sp>
      <p:pic>
        <p:nvPicPr>
          <p:cNvPr id="6" name="Image 0" descr="/home/user/sage-summer-camp-2026/flashpoint/docs/kitten-thunder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2040" y="1920240"/>
            <a:ext cx="6812280" cy="23500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892040" y="4434840"/>
            <a:ext cx="6812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strongest candidate of the 17 — low-band transient ratio 31 — of undetermined origin per two independent satellites.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RECOVERY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on the flash, and the buried thunder appears</a:t>
            </a:r>
            <a:endParaRPr lang="en-US" sz="3200" dirty="0"/>
          </a:p>
        </p:txBody>
      </p:sp>
      <p:pic>
        <p:nvPicPr>
          <p:cNvPr id="4" name="Image 0" descr="/home/user/sage-summer-camp-2026/flashpoint/docs/media/kitten-glm-storm-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4114800" cy="34472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5010912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ignition storm, located by satellite scan: closest flash 3.1 km from the fire point, ~3 h before discovery. Data: NOAA (National Oceanic and Atmospheric Administration) GLM (Geostationary Lightning Mapper) via AWS (Amazon Web Services) Open Data.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892040" y="1417320"/>
            <a:ext cx="6812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satellite flash gives a time-zero. Sound needs ~3 s per kilometer — so re-listening is confined to each flash's predicted arrival window.</a:t>
            </a:r>
            <a:endParaRPr lang="en-US" sz="1450" dirty="0"/>
          </a:p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4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real flash→bang arrivals surfaced from clips the rain noise had blinded — including three flashes ranged in a single 30-second clip:</a:t>
            </a:r>
            <a:endParaRPr lang="en-US" sz="1450" dirty="0"/>
          </a:p>
        </p:txBody>
      </p:sp>
      <p:pic>
        <p:nvPicPr>
          <p:cNvPr id="7" name="Image 1" descr="/home/user/sage-summer-camp-2026/flashpoint/docs/flashmatch_23333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2926080"/>
            <a:ext cx="6812280" cy="236829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892040" y="5394960"/>
            <a:ext cx="2103120" cy="1042416"/>
          </a:xfrm>
          <a:prstGeom prst="roundRect">
            <a:avLst>
              <a:gd name="adj" fmla="val 7018"/>
            </a:avLst>
          </a:prstGeom>
          <a:solidFill>
            <a:srgbClr val="1D2740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020056" y="5468112"/>
            <a:ext cx="1847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2800" dirty="0"/>
          </a:p>
        </p:txBody>
      </p:sp>
      <p:sp>
        <p:nvSpPr>
          <p:cNvPr id="10" name="Text 6"/>
          <p:cNvSpPr/>
          <p:nvPr/>
        </p:nvSpPr>
        <p:spPr>
          <a:xfrm>
            <a:off x="5020056" y="6016752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arrivals recovered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7178040" y="5394960"/>
            <a:ext cx="2103120" cy="1042416"/>
          </a:xfrm>
          <a:prstGeom prst="roundRect">
            <a:avLst>
              <a:gd name="adj" fmla="val 7018"/>
            </a:avLst>
          </a:prstGeom>
          <a:solidFill>
            <a:srgbClr val="1D2740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306056" y="5468112"/>
            <a:ext cx="1847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20/22</a:t>
            </a:r>
            <a:endParaRPr lang="en-US" sz="2800" dirty="0"/>
          </a:p>
        </p:txBody>
      </p:sp>
      <p:sp>
        <p:nvSpPr>
          <p:cNvPr id="13" name="Text 9"/>
          <p:cNvSpPr/>
          <p:nvPr/>
        </p:nvSpPr>
        <p:spPr>
          <a:xfrm>
            <a:off x="7306056" y="6016752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detector recall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9464040" y="5394960"/>
            <a:ext cx="2103120" cy="1042416"/>
          </a:xfrm>
          <a:prstGeom prst="roundRect">
            <a:avLst>
              <a:gd name="adj" fmla="val 7018"/>
            </a:avLst>
          </a:prstGeom>
          <a:solidFill>
            <a:srgbClr val="1D2740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592056" y="5468112"/>
            <a:ext cx="1847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 km</a:t>
            </a:r>
            <a:endParaRPr lang="en-US" sz="2800" dirty="0"/>
          </a:p>
        </p:txBody>
      </p:sp>
      <p:sp>
        <p:nvSpPr>
          <p:cNvPr id="16" name="Text 12"/>
          <p:cNvSpPr/>
          <p:nvPr/>
        </p:nvSpPr>
        <p:spPr>
          <a:xfrm>
            <a:off x="9592056" y="6016752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range error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LOCALIZATION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without clocks, fixes without over-claiming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arrives instantly — a camera flash is a free, absolute time-zero at every node. No cross-node clock sync needed.</a:t>
            </a:r>
            <a:endParaRPr lang="en-US" sz="1500" dirty="0"/>
          </a:p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= Δt × 343 m/s, per node; several nodes' ranges triangulate the strike.</a:t>
            </a:r>
            <a:endParaRPr lang="en-US" sz="1500" dirty="0"/>
          </a:p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5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Cross-node consistency (RANSAC — random sample consensus) picks the one candidate set that agrees; a geometry gate labels every solution fix, ambiguous, or range-only — the system never over-claims.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0"/>
            <a:ext cx="2084832" cy="1042416"/>
          </a:xfrm>
          <a:prstGeom prst="roundRect">
            <a:avLst>
              <a:gd name="adj" fmla="val 7018"/>
            </a:avLst>
          </a:prstGeom>
          <a:solidFill>
            <a:srgbClr val="1D2740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0936" y="464515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 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30936" y="51937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with no satellite, no sync (integration test)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715768" y="4572000"/>
            <a:ext cx="2084832" cy="1042416"/>
          </a:xfrm>
          <a:prstGeom prst="roundRect">
            <a:avLst>
              <a:gd name="adj" fmla="val 7018"/>
            </a:avLst>
          </a:prstGeom>
          <a:solidFill>
            <a:srgbClr val="1D2740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43784" y="464515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5/5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843784" y="51937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strikes fixed in the replayed test storm, 70–273 m</a:t>
            </a:r>
            <a:endParaRPr lang="en-US" sz="1150" dirty="0"/>
          </a:p>
        </p:txBody>
      </p:sp>
      <p:pic>
        <p:nvPicPr>
          <p:cNvPr id="11" name="Image 0" descr="/tmp/claude-0/-home-user-sage-summer-camp-2026/d14367c0-89e4-571d-8363-e54b6f543067/scratchpad/fusion-map-off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0" y="1417320"/>
            <a:ext cx="6492240" cy="416966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212080" y="5687568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Fused strike map: a replayed test storm over the real Argonne node geometry (cameras + microphones only).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CONTROLLER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Storm mode armed 145 minutes before the first flash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70432" cy="457200"/>
          </a:xfrm>
          <a:prstGeom prst="roundRect">
            <a:avLst>
              <a:gd name="adj" fmla="val 16000"/>
            </a:avLst>
          </a:prstGeom>
          <a:solidFill>
            <a:srgbClr val="1D2740"/>
          </a:solidFill>
          <a:ln w="15875">
            <a:solidFill>
              <a:srgbClr val="3A47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389888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IDLE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691640" y="1389888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984248" y="1389888"/>
            <a:ext cx="1170432" cy="457200"/>
          </a:xfrm>
          <a:prstGeom prst="roundRect">
            <a:avLst>
              <a:gd name="adj" fmla="val 16000"/>
            </a:avLst>
          </a:prstGeom>
          <a:solidFill>
            <a:srgbClr val="1D2740"/>
          </a:solidFill>
          <a:ln w="15875">
            <a:solidFill>
              <a:srgbClr val="2A78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84248" y="1389888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OUTLOOK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172968" y="1389888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465576" y="1389888"/>
            <a:ext cx="1170432" cy="457200"/>
          </a:xfrm>
          <a:prstGeom prst="roundRect">
            <a:avLst>
              <a:gd name="adj" fmla="val 16000"/>
            </a:avLst>
          </a:prstGeom>
          <a:solidFill>
            <a:srgbClr val="1D2740"/>
          </a:solidFill>
          <a:ln w="15875">
            <a:solidFill>
              <a:srgbClr val="FAB21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65576" y="1389888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APPROACH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654296" y="1389888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946904" y="1389888"/>
            <a:ext cx="1170432" cy="457200"/>
          </a:xfrm>
          <a:prstGeom prst="roundRect">
            <a:avLst>
              <a:gd name="adj" fmla="val 16000"/>
            </a:avLst>
          </a:prstGeom>
          <a:solidFill>
            <a:srgbClr val="1D2740"/>
          </a:solidFill>
          <a:ln w="15875">
            <a:solidFill>
              <a:srgbClr val="D03B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46904" y="1389888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0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STORM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135624" y="1389888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28232" y="1389888"/>
            <a:ext cx="1170432" cy="457200"/>
          </a:xfrm>
          <a:prstGeom prst="roundRect">
            <a:avLst>
              <a:gd name="adj" fmla="val 16000"/>
            </a:avLst>
          </a:prstGeom>
          <a:solidFill>
            <a:srgbClr val="1D2740"/>
          </a:solidFill>
          <a:ln w="15875">
            <a:solidFill>
              <a:srgbClr val="1BAF7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28232" y="1389888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AFTERMATH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02920" y="2286000"/>
            <a:ext cx="5577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NWS (National Weather Service) outlooks arm it cheaply; radar cell tracks and local sensors escalate it; every action is budget-capped, hysteresis-damped, and audit-logged.</a:t>
            </a:r>
            <a:endParaRPr lang="en-US" sz="1400" dirty="0"/>
          </a:p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Replayed against the real Kitten storm feeds, it armed 145 minutes before the first local flash — then scheduled the holdover watch and expired cleanly. 19/19 tests.</a:t>
            </a:r>
            <a:endParaRPr lang="en-US" sz="140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 → the frame on the right: through the entire ignition storm, the node's steerable camera pointed at a cabin wall.</a:t>
            </a:r>
            <a:endParaRPr lang="en-US" sz="1400" dirty="0"/>
          </a:p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4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failures, honestly separated: tasking (fixed by this controller) and siting — W06C sits low in forest, so smoke confirmation needs elevated partner cameras or better-sited nodes. Both remedies are recommended.</a:t>
            </a:r>
            <a:endParaRPr lang="en-US" sz="1400" dirty="0"/>
          </a:p>
        </p:txBody>
      </p:sp>
      <p:pic>
        <p:nvPicPr>
          <p:cNvPr id="19" name="Image 0" descr="/home/user/sage-summer-camp-2026/flashpoint/docs/forensics_shee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2240280"/>
            <a:ext cx="5486400" cy="3374136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217920" y="568756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W06C's PTZ camera during the ignition storm (top rows) and the falsified events (bottom row).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HOLDOVER WATCH + HUMAN REVIEW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strike becomes a 72-hour watchpoint</a:t>
            </a:r>
            <a:endParaRPr lang="en-US" sz="3200" dirty="0"/>
          </a:p>
        </p:txBody>
      </p:sp>
      <p:pic>
        <p:nvPicPr>
          <p:cNvPr id="4" name="Image 0" descr="Raw viewport and derived detector view for the strike sec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2808" y="1371600"/>
            <a:ext cx="8412480" cy="26243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892808" y="4096512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i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ships as an untouched raw frame plus a labeled derived copy. The boxed detection here is a test-harness placeholder — in live gateway runs, Gemma 4 captions each frame and YOLO11 draws detection boxes; SmokeyNet is the planned smoke detector (W097 panorama; the plume is a real Halemaʻumaʻu gas plume).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502920" y="4892040"/>
            <a:ext cx="5394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PTZ patrols strike sectors by risk, dwelling to the smoke model's needs — validated through the real sage-agent gateway on the camp node (test-mode PTZ, live Gemma 4 captions).</a:t>
            </a:r>
            <a:endParaRPr lang="en-US" sz="1350" dirty="0"/>
          </a:p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3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Ignition-risk score with per-factor provenance: node rain gauge, NASA (National Aeronautics and Space Administration) POWER (Prediction of Worldwide Energy Resources) dryness, fuel, detection confidence.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263640" y="4892040"/>
            <a:ext cx="5440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Alerts land in Slack: one glanceable summary line, evidence strip inline, full forensic audit in-thread.</a:t>
            </a:r>
            <a:endParaRPr lang="en-US" sz="1350" dirty="0"/>
          </a:p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3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Reviewers click Confirm / False positive / Keep watching — decisions flow back to the node AND become labeled training data. No automated dispatch, ever.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SECOND CASE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Fourteen fires. Five days. 0.06 millimeters of rain.</a:t>
            </a:r>
            <a:endParaRPr lang="en-US" sz="3200" dirty="0"/>
          </a:p>
        </p:txBody>
      </p:sp>
      <p:pic>
        <p:nvPicPr>
          <p:cNvPr id="4" name="Image 0" descr="/home/user/sage-summer-camp-2026/flashpoint/docs/media/selma-dry-bu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6583680" cy="35112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5047488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Queried live during camp week from W067's public weather streams. Fire records: NIFC (National Interagency Fire Center) WFIGS (Wildland Fire Interagency Geospatial Services), agency-determined cause.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7269480" y="1417320"/>
            <a:ext cx="4434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Selma, Oregon: 14 natural-cause fires logged in ONE day, 14–34 km from node W067.</a:t>
            </a:r>
            <a:endParaRPr lang="en-US" sz="1450" dirty="0"/>
          </a:p>
          <a:p>
            <a:pPr marL="152400" indent="-1524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node's own gauge: 0.06 mm across five days, under a 37 °C spike. Its only movement — a 0.05 mm trace — lands exactly on the fire line: the ignition storm itself, essentially dry.</a:t>
            </a:r>
            <a:endParaRPr lang="en-US" sz="14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score v0.1 back-test — separation is already clean: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7269480" y="4041648"/>
            <a:ext cx="713232" cy="420624"/>
          </a:xfrm>
          <a:prstGeom prst="roundRect">
            <a:avLst>
              <a:gd name="adj" fmla="val 15217"/>
            </a:avLst>
          </a:prstGeom>
          <a:solidFill>
            <a:srgbClr val="1D2740"/>
          </a:solidFill>
          <a:ln w="12700">
            <a:solidFill>
              <a:srgbClr val="FAB21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269480" y="4041648"/>
            <a:ext cx="7132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110728" y="4041648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Kitten dry night storm → fire next day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269480" y="4553712"/>
            <a:ext cx="713232" cy="420624"/>
          </a:xfrm>
          <a:prstGeom prst="roundRect">
            <a:avLst>
              <a:gd name="adj" fmla="val 15217"/>
            </a:avLst>
          </a:prstGeom>
          <a:solidFill>
            <a:srgbClr val="1D2740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69480" y="4553712"/>
            <a:ext cx="7132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110728" y="4553712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Selma bust → 14 fires next day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269480" y="5065776"/>
            <a:ext cx="713232" cy="420624"/>
          </a:xfrm>
          <a:prstGeom prst="roundRect">
            <a:avLst>
              <a:gd name="adj" fmla="val 15217"/>
            </a:avLst>
          </a:prstGeom>
          <a:solidFill>
            <a:srgbClr val="1D2740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269480" y="5065776"/>
            <a:ext cx="7132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8110728" y="5065776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wet-storm control → low risk, correct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7269480" y="5577840"/>
            <a:ext cx="713232" cy="420624"/>
          </a:xfrm>
          <a:prstGeom prst="roundRect">
            <a:avLst>
              <a:gd name="adj" fmla="val 15217"/>
            </a:avLst>
          </a:prstGeom>
          <a:solidFill>
            <a:srgbClr val="1D2740"/>
          </a:solidFill>
          <a:ln w="12700">
            <a:solidFill>
              <a:srgbClr val="8A97B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269480" y="5577840"/>
            <a:ext cx="7132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8110728" y="5577840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no-strike day → no card, correct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LEDGER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was built, what was found, and the limitations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611880" cy="4846320"/>
          </a:xfrm>
          <a:prstGeom prst="roundRect">
            <a:avLst>
              <a:gd name="adj" fmla="val 2532"/>
            </a:avLst>
          </a:prstGeom>
          <a:solidFill>
            <a:srgbClr val="1D2740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2376" y="1627632"/>
            <a:ext cx="3172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00" kern="0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THIS WEEK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22376" y="2011680"/>
            <a:ext cx="3172968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Noise-adaptive thunder + flash detectors (anchored listening)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Sage/Waggle edge plugin — built and RUN on a Sage node; candidates published to the cloud API (application programming interface)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 classifier probe v0 — YAMNet + logistic regression, AUC (area under the curve) 0.95 vs 0.70 for the DSP (digital signal processing) score, same labels (first neural result)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Storm-mode controller — 19/19 tests, real-storm replay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Fusion engine + strike maps with GDOP (geometric dilution of precision) gating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cards + Slack human-review loop, live end-to-end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Forensic dashboard used to build all of the above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34256" y="1417320"/>
            <a:ext cx="3611880" cy="4846320"/>
          </a:xfrm>
          <a:prstGeom prst="roundRect">
            <a:avLst>
              <a:gd name="adj" fmla="val 2532"/>
            </a:avLst>
          </a:prstGeom>
          <a:solidFill>
            <a:srgbClr val="1D2740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53712" y="1627632"/>
            <a:ext cx="3172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 FOR SAGE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53712" y="2011680"/>
            <a:ext cx="3172968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soil / fuel-moisture sensor publishes anywhere on the fleet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manifest is not the archive: 97 nodes list microphones, only 64 ever recorded — and W021 (Colorado) records audio with none listed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fleet's #2/#3 most fire-exposed recording nodes (V040/V041, Oregon) ran their microphones only in autumn–winter: 0 of their 35 storm days captured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siting caps the smoke leg — recommend ridge-top “sentinel” placement or cueing partner networks (ALERTWildfire, HPWREN)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 liveness is task-level: W096's imagesampler silent 24+ h while met + audio kept flowing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Case-node file ACLs (access-control lists; W067 et al.) — access requests filed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165592" y="1417320"/>
            <a:ext cx="3611880" cy="4846320"/>
          </a:xfrm>
          <a:prstGeom prst="roundRect">
            <a:avLst>
              <a:gd name="adj" fmla="val 2532"/>
            </a:avLst>
          </a:prstGeom>
          <a:solidFill>
            <a:srgbClr val="1D2740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85048" y="1627632"/>
            <a:ext cx="3172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00" kern="0" dirty="0">
                <a:solidFill>
                  <a:srgbClr val="D0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385048" y="2011680"/>
            <a:ext cx="3172968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real storm validates the audio chain (Kitten)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Fusion + flash validated in replay tests — real multi-node captures need storm mode running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 truth (satellite pixels 8–14 km) is coarser than the sub-km claims — Vaisala research-data request submitted Jul 24, not yet approved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access to key fire-country node archives (W067, W084/W06F, W019) was requested but not granted — additional storm/fire cases went unexamined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PTZ control untested: the W0A4 sandbox camera's web interface was reached over an SSH (Secure Shell) tunnel, but control permissions were not granted — re-aim runs in test mode only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hackathon week: v0.1 weights, dry-run job control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5063947"/>
            <a:ext cx="1554480" cy="1119226"/>
          </a:xfrm>
          <a:prstGeom prst="ellipse">
            <a:avLst/>
          </a:prstGeom>
          <a:ln w="15875">
            <a:solidFill>
              <a:srgbClr val="4653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64040" y="4636008"/>
            <a:ext cx="2743200" cy="1975104"/>
          </a:xfrm>
          <a:prstGeom prst="ellipse">
            <a:avLst/>
          </a:prstGeom>
          <a:ln w="15875">
            <a:solidFill>
              <a:srgbClr val="3A47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869680" y="4208069"/>
            <a:ext cx="3931920" cy="2830982"/>
          </a:xfrm>
          <a:prstGeom prst="ellipse">
            <a:avLst/>
          </a:prstGeom>
          <a:ln w="15875">
            <a:solidFill>
              <a:srgbClr val="2C37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62488" y="5550408"/>
            <a:ext cx="146304" cy="146304"/>
          </a:xfrm>
          <a:prstGeom prst="ellipse">
            <a:avLst/>
          </a:prstGeom>
          <a:solidFill>
            <a:srgbClr val="FAB219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3716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fleet already hears the storms.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02920" y="2212848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Sage FlashPoint makes it listen — and watch what happens next.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02920" y="27980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DIRECTIONS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21208" y="3218688"/>
            <a:ext cx="146304" cy="146304"/>
          </a:xfrm>
          <a:prstGeom prst="ellipse">
            <a:avLst/>
          </a:prstGeom>
          <a:solidFill>
            <a:srgbClr val="FAB219"/>
          </a:solidFill>
          <a:ln/>
        </p:spPr>
      </p:sp>
      <p:sp>
        <p:nvSpPr>
          <p:cNvPr id="10" name="Text 8"/>
          <p:cNvSpPr/>
          <p:nvPr/>
        </p:nvSpPr>
        <p:spPr>
          <a:xfrm>
            <a:off x="813816" y="3127248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NLDN (National Lightning Detection Network) ground truth  </a:t>
            </a:r>
            <a:pPr indent="0" marL="0">
              <a:buNone/>
            </a:pPr>
            <a:r>
              <a:rPr lang="en-US" sz="14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request submitted July 24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21208" y="3675888"/>
            <a:ext cx="146304" cy="146304"/>
          </a:xfrm>
          <a:prstGeom prst="ellipse">
            <a:avLst/>
          </a:prstGeom>
          <a:solidFill>
            <a:srgbClr val="EB6834"/>
          </a:solidFill>
          <a:ln/>
        </p:spPr>
      </p:sp>
      <p:sp>
        <p:nvSpPr>
          <p:cNvPr id="12" name="Text 10"/>
          <p:cNvSpPr/>
          <p:nvPr/>
        </p:nvSpPr>
        <p:spPr>
          <a:xfrm>
            <a:off x="813816" y="3584448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classifier  </a:t>
            </a:r>
            <a:pPr indent="0" marL="0">
              <a:buNone/>
            </a:pPr>
            <a:r>
              <a:rPr lang="en-US" sz="14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probe v0 landed: AUC 0.95 vs 0.70 DSP — next, reviewer-click labels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21208" y="4133088"/>
            <a:ext cx="146304" cy="146304"/>
          </a:xfrm>
          <a:prstGeom prst="ellipse">
            <a:avLst/>
          </a:prstGeom>
          <a:solidFill>
            <a:srgbClr val="D03B3B"/>
          </a:solidFill>
          <a:ln/>
        </p:spPr>
      </p:sp>
      <p:sp>
        <p:nvSpPr>
          <p:cNvPr id="14" name="Text 12"/>
          <p:cNvSpPr/>
          <p:nvPr/>
        </p:nvSpPr>
        <p:spPr>
          <a:xfrm>
            <a:off x="813816" y="4041648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Smoke leg  </a:t>
            </a:r>
            <a:pPr indent="0" marL="0">
              <a:buNone/>
            </a:pPr>
            <a:r>
              <a:rPr lang="en-US" sz="14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SmokeyNet plugin on watch cadence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21208" y="4590288"/>
            <a:ext cx="146304" cy="146304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813816" y="4498848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 (radio frequency) time-zero  </a:t>
            </a:r>
            <a:pPr indent="0" marL="0">
              <a:buNone/>
            </a:pPr>
            <a:r>
              <a:rPr lang="en-US" sz="14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SDR (software-defined radio) sferic anchor — daytime parity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21208" y="5047488"/>
            <a:ext cx="146304" cy="146304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813816" y="4956048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Hawaiʻi variant  </a:t>
            </a:r>
            <a:pPr indent="0" marL="0">
              <a:buNone/>
            </a:pPr>
            <a:r>
              <a:rPr lang="en-US" sz="14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wind-trigger controller on HCDP (Hawaiʻi Climate Data Portal) feeds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21208" y="5504688"/>
            <a:ext cx="146304" cy="146304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813816" y="5413248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PTZ actuation  </a:t>
            </a:r>
            <a:pPr indent="0" marL="0">
              <a:buNone/>
            </a:pPr>
            <a:r>
              <a:rPr lang="en-US" sz="14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camera-control credentials on the W0A4 sandbox unblock real re-aim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5870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sources: NIFC WFIGS (fire records, agency-determined cause) · NOAA GOES-18/19 GLM via AWS Open Data · NASA POWER &amp; SMAP (Soil Moisture Active Passive), via Earthdata · NWS · Vaisala Xweather · Sage data &amp; storage APIs · Models: YAMNet, YOLO11 (You Only Look Once), Gemma 4 (SmokeyNet planned) · Maps: Leaflet, © OpenStreetMap contributors, © CARTO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02920" y="629107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code, data, audio &amp; writeup: github.com/scwatson4/sage-summer-camp-2026 → flashpoint/  ·  thank you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OPERATING CONCEPT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 of state: from quiet skies to a verified alert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3246120" cy="4681728"/>
          </a:xfrm>
          <a:prstGeom prst="roundRect">
            <a:avLst>
              <a:gd name="adj" fmla="val 2817"/>
            </a:avLst>
          </a:prstGeom>
          <a:solidFill>
            <a:srgbClr val="1D2740"/>
          </a:solidFill>
          <a:ln w="19050">
            <a:solidFill>
              <a:srgbClr val="2A78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67512" y="1463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FB4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Beehive cloud — orchestrator agent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67512" y="1938528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more capable LLM (large language model) agent runs where Sage already connects every node — it moves nodes between states; the nodes stay deterministic.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67512" y="2907792"/>
            <a:ext cx="2926080" cy="749808"/>
          </a:xfrm>
          <a:prstGeom prst="roundRect">
            <a:avLst>
              <a:gd name="adj" fmla="val 8537"/>
            </a:avLst>
          </a:prstGeom>
          <a:solidFill>
            <a:srgbClr val="101625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962656"/>
            <a:ext cx="2724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Sees every node
</a:t>
            </a:r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telemetry, detections, camera frames, health — via the Beehive pipeline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67512" y="3749040"/>
            <a:ext cx="2926080" cy="749808"/>
          </a:xfrm>
          <a:prstGeom prst="roundRect">
            <a:avLst>
              <a:gd name="adj" fmla="val 8537"/>
            </a:avLst>
          </a:prstGeom>
          <a:solidFill>
            <a:srgbClr val="101625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803904"/>
            <a:ext cx="2724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Sees the outside world
</a:t>
            </a:r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NASA Earthdata · Vaisala Xweather · National Weather Service · GOES satellites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67512" y="4590288"/>
            <a:ext cx="2926080" cy="749808"/>
          </a:xfrm>
          <a:prstGeom prst="roundRect">
            <a:avLst>
              <a:gd name="adj" fmla="val 8537"/>
            </a:avLst>
          </a:prstGeom>
          <a:solidFill>
            <a:srgbClr val="101625"/>
          </a:solidFill>
          <a:ln w="9525">
            <a:solidFill>
              <a:srgbClr val="3A476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4645152"/>
            <a:ext cx="2724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Directs, never dispatches
</a:t>
            </a:r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chooses node states and cameras; every action logged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67512" y="54864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orchestrator supervises every state at right and can advance or reset the flow at any time.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023360" y="1325880"/>
            <a:ext cx="7662672" cy="731520"/>
          </a:xfrm>
          <a:prstGeom prst="roundRect">
            <a:avLst>
              <a:gd name="adj" fmla="val 11250"/>
            </a:avLst>
          </a:prstGeom>
          <a:solidFill>
            <a:srgbClr val="1D2740"/>
          </a:solidFill>
          <a:ln w="19050">
            <a:solidFill>
              <a:srgbClr val="5661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87952" y="1527048"/>
            <a:ext cx="329184" cy="329184"/>
          </a:xfrm>
          <a:prstGeom prst="ellipse">
            <a:avLst/>
          </a:prstGeom>
          <a:solidFill>
            <a:srgbClr val="101625"/>
          </a:solidFill>
          <a:ln w="19050">
            <a:solidFill>
              <a:srgbClr val="5661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87952" y="1527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681728" y="1389888"/>
            <a:ext cx="6858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Quiet watch
</a:t>
            </a:r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 snapshot schedules; the orchestrator tracks forecasts and radar for every node's neighborhood.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43400" y="2057400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 </a:t>
            </a:r>
            <a:pPr indent="0" marL="0">
              <a:buNone/>
            </a:pPr>
            <a:r>
              <a:rPr lang="en-US" sz="1000" i="1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 conditions suggest lightning near a group of nodes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023360" y="2313432"/>
            <a:ext cx="7662672" cy="731520"/>
          </a:xfrm>
          <a:prstGeom prst="roundRect">
            <a:avLst>
              <a:gd name="adj" fmla="val 11250"/>
            </a:avLst>
          </a:prstGeom>
          <a:solidFill>
            <a:srgbClr val="1D2740"/>
          </a:solidFill>
          <a:ln w="19050">
            <a:solidFill>
              <a:srgbClr val="1BAF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87952" y="2514600"/>
            <a:ext cx="329184" cy="329184"/>
          </a:xfrm>
          <a:prstGeom prst="ellipse">
            <a:avLst/>
          </a:prstGeom>
          <a:solidFill>
            <a:srgbClr val="101625"/>
          </a:solidFill>
          <a:ln w="19050">
            <a:solidFill>
              <a:srgbClr val="1BAF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87952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681728" y="2377440"/>
            <a:ext cx="6858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Always-on capture
</a:t>
            </a:r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Cameras, microphones, and the SDR (software-defined radio) lightning sensor record continuously on the affected nodes.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343400" y="3044952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 </a:t>
            </a:r>
            <a:pPr indent="0" marL="0">
              <a:buNone/>
            </a:pPr>
            <a:r>
              <a:rPr lang="en-US" sz="1000" i="1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SDR registers a positive strike AND enough nodes sit within listening range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023360" y="3300984"/>
            <a:ext cx="7662672" cy="731520"/>
          </a:xfrm>
          <a:prstGeom prst="roundRect">
            <a:avLst>
              <a:gd name="adj" fmla="val 11250"/>
            </a:avLst>
          </a:prstGeom>
          <a:solidFill>
            <a:srgbClr val="1D2740"/>
          </a:solidFill>
          <a:ln w="19050">
            <a:solidFill>
              <a:srgbClr val="FAB21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87952" y="3502152"/>
            <a:ext cx="329184" cy="329184"/>
          </a:xfrm>
          <a:prstGeom prst="ellipse">
            <a:avLst/>
          </a:prstGeom>
          <a:solidFill>
            <a:srgbClr val="101625"/>
          </a:solidFill>
          <a:ln w="19050">
            <a:solidFill>
              <a:srgbClr val="FAB21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87952" y="3502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681728" y="3364992"/>
            <a:ext cx="6858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Strike triangulated
</a:t>
            </a:r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strike's radio pulse gives every node the same start-of-clock; thunder delays give distances that cross at the strike.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343400" y="403250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 </a:t>
            </a:r>
            <a:pPr indent="0" marL="0">
              <a:buNone/>
            </a:pPr>
            <a:r>
              <a:rPr lang="en-US" sz="1000" i="1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fixed — the orchestrator picks the best-placed camera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023360" y="4288536"/>
            <a:ext cx="7662672" cy="731520"/>
          </a:xfrm>
          <a:prstGeom prst="roundRect">
            <a:avLst>
              <a:gd name="adj" fmla="val 11250"/>
            </a:avLst>
          </a:prstGeom>
          <a:solidFill>
            <a:srgbClr val="1D2740"/>
          </a:solidFill>
          <a:ln w="19050">
            <a:solidFill>
              <a:srgbClr val="EB683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87952" y="4489704"/>
            <a:ext cx="329184" cy="329184"/>
          </a:xfrm>
          <a:prstGeom prst="ellipse">
            <a:avLst/>
          </a:prstGeom>
          <a:solidFill>
            <a:srgbClr val="101625"/>
          </a:solidFill>
          <a:ln w="19050">
            <a:solidFill>
              <a:srgbClr val="EB683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87952" y="4489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681728" y="4352544"/>
            <a:ext cx="6858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Smoke watch
</a:t>
            </a:r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PTZ (pan-tilt-zoom) camera with a horizon view aims at the strike sector; the smoke agent revisits through the holdover window.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343400" y="5020056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 </a:t>
            </a:r>
            <a:pPr indent="0" marL="0">
              <a:buNone/>
            </a:pPr>
            <a:r>
              <a:rPr lang="en-US" sz="1000" i="1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smoke confirmed at the sector   ·   no smoke by window's end → return to 1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023360" y="5276088"/>
            <a:ext cx="7662672" cy="731520"/>
          </a:xfrm>
          <a:prstGeom prst="roundRect">
            <a:avLst>
              <a:gd name="adj" fmla="val 11250"/>
            </a:avLst>
          </a:prstGeom>
          <a:solidFill>
            <a:srgbClr val="1D2740"/>
          </a:solidFill>
          <a:ln w="19050">
            <a:solidFill>
              <a:srgbClr val="D03B3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187952" y="5477256"/>
            <a:ext cx="329184" cy="329184"/>
          </a:xfrm>
          <a:prstGeom prst="ellipse">
            <a:avLst/>
          </a:prstGeom>
          <a:solidFill>
            <a:srgbClr val="101625"/>
          </a:solidFill>
          <a:ln w="19050">
            <a:solidFill>
              <a:srgbClr val="D03B3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87952" y="54772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0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681728" y="5340096"/>
            <a:ext cx="6858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Notify emergency personnel
</a:t>
            </a:r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Before-and-after pictures plus the conditions leading up to the strike — soil moisture, rainfall, wind.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023360" y="6144768"/>
            <a:ext cx="7662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50" i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SDR sensing is planned hardware — the camera flash is the start-of-clock today. Notifications are human-reviewed before anything reaches responders. Soil moisture currently comes from NASA data; an on-node probe is the planned upgrade.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OPERATING CONCEPT — SIMPLIFIED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83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Sage FlashPoint — flow of state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11183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Beehive-level orchestrator supervises every step; each arrow fires only when its condition is met.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1207008"/>
            <a:ext cx="11183112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31750">
            <a:solidFill>
              <a:srgbClr val="232F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207008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232F3E"/>
          </a:solidFill>
          <a:ln w="12700">
            <a:solidFill>
              <a:srgbClr val="232F3E"/>
            </a:solidFill>
            <a:prstDash val="solid"/>
          </a:ln>
        </p:spPr>
      </p:sp>
      <p:pic>
        <p:nvPicPr>
          <p:cNvPr id="7" name="Image 0" descr="Cloud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1335024"/>
            <a:ext cx="402336" cy="402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1371600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Beehive Cloud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Orchestrator Agent — LLM (large language model)</a:t>
            </a:r>
            <a:endParaRPr lang="en-US" sz="1600" dirty="0"/>
          </a:p>
        </p:txBody>
      </p:sp>
      <p:pic>
        <p:nvPicPr>
          <p:cNvPr id="9" name="Image 1" descr="Every n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9976" y="1371600"/>
            <a:ext cx="384048" cy="38404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246120" y="17922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node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3246120" y="202996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74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telemetry · detections · frames</a:t>
            </a:r>
            <a:endParaRPr lang="en-US" sz="950" dirty="0"/>
          </a:p>
        </p:txBody>
      </p:sp>
      <p:pic>
        <p:nvPicPr>
          <p:cNvPr id="12" name="Image 2" descr="External dat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8896" y="1371600"/>
            <a:ext cx="384048" cy="38404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035040" y="17922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data</a:t>
            </a:r>
            <a:endParaRPr lang="en-US" sz="1150" dirty="0"/>
          </a:p>
        </p:txBody>
      </p:sp>
      <p:sp>
        <p:nvSpPr>
          <p:cNvPr id="14" name="Text 9"/>
          <p:cNvSpPr/>
          <p:nvPr/>
        </p:nvSpPr>
        <p:spPr>
          <a:xfrm>
            <a:off x="6035040" y="202996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74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NASA · Xweather · National Weather Service · GOES</a:t>
            </a:r>
            <a:endParaRPr lang="en-US" sz="950" dirty="0"/>
          </a:p>
        </p:txBody>
      </p:sp>
      <p:pic>
        <p:nvPicPr>
          <p:cNvPr id="15" name="Image 3" descr="Directs, never dispatch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7816" y="1371600"/>
            <a:ext cx="384048" cy="38404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823960" y="17922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Directs, never dispatches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8823960" y="202996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74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logged</a:t>
            </a:r>
            <a:endParaRPr lang="en-US" sz="950" dirty="0"/>
          </a:p>
        </p:txBody>
      </p:sp>
      <p:sp>
        <p:nvSpPr>
          <p:cNvPr id="18" name="Shape 12"/>
          <p:cNvSpPr/>
          <p:nvPr/>
        </p:nvSpPr>
        <p:spPr>
          <a:xfrm>
            <a:off x="6094476" y="2843784"/>
            <a:ext cx="0" cy="310896"/>
          </a:xfrm>
          <a:prstGeom prst="line">
            <a:avLst/>
          </a:prstGeom>
          <a:noFill/>
          <a:ln w="25400">
            <a:solidFill>
              <a:srgbClr val="5F6B7A"/>
            </a:solidFill>
            <a:prstDash val="solid"/>
            <a:tailEnd type="triangle"/>
          </a:ln>
        </p:spPr>
      </p:sp>
      <p:sp>
        <p:nvSpPr>
          <p:cNvPr id="19" name="Shape 13"/>
          <p:cNvSpPr/>
          <p:nvPr/>
        </p:nvSpPr>
        <p:spPr>
          <a:xfrm>
            <a:off x="502920" y="3236976"/>
            <a:ext cx="1600200" cy="233172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31750">
            <a:solidFill>
              <a:srgbClr val="E8710A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502920" y="3236976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E8710A"/>
          </a:solidFill>
          <a:ln w="12700">
            <a:solidFill>
              <a:srgbClr val="E8710A"/>
            </a:solidFill>
            <a:prstDash val="solid"/>
          </a:ln>
        </p:spPr>
      </p:sp>
      <p:pic>
        <p:nvPicPr>
          <p:cNvPr id="21" name="Image 4" descr="1 · Quiet wat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" y="3319272"/>
            <a:ext cx="292608" cy="29260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57784" y="3785616"/>
            <a:ext cx="1490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Quiet watch</a:t>
            </a:r>
            <a:endParaRPr lang="en-US" sz="1200" dirty="0"/>
          </a:p>
        </p:txBody>
      </p:sp>
      <p:sp>
        <p:nvSpPr>
          <p:cNvPr id="23" name="Text 16"/>
          <p:cNvSpPr/>
          <p:nvPr/>
        </p:nvSpPr>
        <p:spPr>
          <a:xfrm>
            <a:off x="594360" y="4279392"/>
            <a:ext cx="141732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 snapshot schedules; the orchestrator tracks the weather</a:t>
            </a:r>
            <a:endParaRPr lang="en-US" sz="900" dirty="0"/>
          </a:p>
        </p:txBody>
      </p:sp>
      <p:sp>
        <p:nvSpPr>
          <p:cNvPr id="24" name="Shape 17"/>
          <p:cNvSpPr/>
          <p:nvPr/>
        </p:nvSpPr>
        <p:spPr>
          <a:xfrm>
            <a:off x="2898648" y="3236976"/>
            <a:ext cx="1600200" cy="233172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31750">
            <a:solidFill>
              <a:srgbClr val="E8710A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2898648" y="3236976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E8710A"/>
          </a:solidFill>
          <a:ln w="12700">
            <a:solidFill>
              <a:srgbClr val="E8710A"/>
            </a:solidFill>
            <a:prstDash val="solid"/>
          </a:ln>
        </p:spPr>
      </p:sp>
      <p:pic>
        <p:nvPicPr>
          <p:cNvPr id="26" name="Image 5" descr="2 · Always-on captur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80944" y="3319272"/>
            <a:ext cx="292608" cy="292608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2953512" y="3785616"/>
            <a:ext cx="1490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Always-on capture</a:t>
            </a:r>
            <a:endParaRPr lang="en-US" sz="1200" dirty="0"/>
          </a:p>
        </p:txBody>
      </p:sp>
      <p:sp>
        <p:nvSpPr>
          <p:cNvPr id="28" name="Text 20"/>
          <p:cNvSpPr/>
          <p:nvPr/>
        </p:nvSpPr>
        <p:spPr>
          <a:xfrm>
            <a:off x="2990088" y="4279392"/>
            <a:ext cx="141732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Cameras, microphones, and the SDR (software-defined radio) sensor record continuously</a:t>
            </a:r>
            <a:endParaRPr lang="en-US" sz="900" dirty="0"/>
          </a:p>
        </p:txBody>
      </p:sp>
      <p:sp>
        <p:nvSpPr>
          <p:cNvPr id="29" name="Shape 21"/>
          <p:cNvSpPr/>
          <p:nvPr/>
        </p:nvSpPr>
        <p:spPr>
          <a:xfrm>
            <a:off x="5294376" y="3236976"/>
            <a:ext cx="1600200" cy="233172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31750">
            <a:solidFill>
              <a:srgbClr val="E8710A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5294376" y="3236976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E8710A"/>
          </a:solidFill>
          <a:ln w="12700">
            <a:solidFill>
              <a:srgbClr val="E8710A"/>
            </a:solidFill>
            <a:prstDash val="solid"/>
          </a:ln>
        </p:spPr>
      </p:sp>
      <p:pic>
        <p:nvPicPr>
          <p:cNvPr id="31" name="Image 6" descr="3 · Strike locate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76672" y="3319272"/>
            <a:ext cx="292608" cy="292608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5349240" y="3785616"/>
            <a:ext cx="1490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Strike located</a:t>
            </a:r>
            <a:endParaRPr lang="en-US" sz="1200" dirty="0"/>
          </a:p>
        </p:txBody>
      </p:sp>
      <p:sp>
        <p:nvSpPr>
          <p:cNvPr id="33" name="Text 24"/>
          <p:cNvSpPr/>
          <p:nvPr/>
        </p:nvSpPr>
        <p:spPr>
          <a:xfrm>
            <a:off x="5385816" y="4279392"/>
            <a:ext cx="141732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radio pulse is the shared clock; thunder delays cross at the strike</a:t>
            </a:r>
            <a:endParaRPr lang="en-US" sz="900" dirty="0"/>
          </a:p>
        </p:txBody>
      </p:sp>
      <p:sp>
        <p:nvSpPr>
          <p:cNvPr id="34" name="Shape 25"/>
          <p:cNvSpPr/>
          <p:nvPr/>
        </p:nvSpPr>
        <p:spPr>
          <a:xfrm>
            <a:off x="7690104" y="3236976"/>
            <a:ext cx="1600200" cy="233172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31750">
            <a:solidFill>
              <a:srgbClr val="E8710A"/>
            </a:solidFill>
            <a:prstDash val="solid"/>
          </a:ln>
        </p:spPr>
      </p:sp>
      <p:sp>
        <p:nvSpPr>
          <p:cNvPr id="35" name="Shape 26"/>
          <p:cNvSpPr/>
          <p:nvPr/>
        </p:nvSpPr>
        <p:spPr>
          <a:xfrm>
            <a:off x="7690104" y="3236976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E8710A"/>
          </a:solidFill>
          <a:ln w="12700">
            <a:solidFill>
              <a:srgbClr val="E8710A"/>
            </a:solidFill>
            <a:prstDash val="solid"/>
          </a:ln>
        </p:spPr>
      </p:sp>
      <p:pic>
        <p:nvPicPr>
          <p:cNvPr id="36" name="Image 7" descr="4 · Smoke watc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0" y="3319272"/>
            <a:ext cx="292608" cy="292608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7744968" y="3785616"/>
            <a:ext cx="1490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Smoke watch</a:t>
            </a:r>
            <a:endParaRPr lang="en-US" sz="1200" dirty="0"/>
          </a:p>
        </p:txBody>
      </p:sp>
      <p:sp>
        <p:nvSpPr>
          <p:cNvPr id="38" name="Text 28"/>
          <p:cNvSpPr/>
          <p:nvPr/>
        </p:nvSpPr>
        <p:spPr>
          <a:xfrm>
            <a:off x="7781544" y="4279392"/>
            <a:ext cx="141732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horizon-view PTZ (pan-tilt-zoom) camera aims at the sector; the smoke agent revisits for days</a:t>
            </a:r>
            <a:endParaRPr lang="en-US" sz="900" dirty="0"/>
          </a:p>
        </p:txBody>
      </p:sp>
      <p:sp>
        <p:nvSpPr>
          <p:cNvPr id="39" name="Shape 29"/>
          <p:cNvSpPr/>
          <p:nvPr/>
        </p:nvSpPr>
        <p:spPr>
          <a:xfrm>
            <a:off x="10085832" y="3236976"/>
            <a:ext cx="1600200" cy="233172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31750">
            <a:solidFill>
              <a:srgbClr val="1976D2"/>
            </a:solidFill>
            <a:prstDash val="solid"/>
          </a:ln>
        </p:spPr>
      </p:sp>
      <p:sp>
        <p:nvSpPr>
          <p:cNvPr id="40" name="Shape 30"/>
          <p:cNvSpPr/>
          <p:nvPr/>
        </p:nvSpPr>
        <p:spPr>
          <a:xfrm>
            <a:off x="10085832" y="3236976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pic>
        <p:nvPicPr>
          <p:cNvPr id="41" name="Image 8" descr="5 · Notify responder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68128" y="3319272"/>
            <a:ext cx="292608" cy="292608"/>
          </a:xfrm>
          <a:prstGeom prst="rect">
            <a:avLst/>
          </a:prstGeom>
        </p:spPr>
      </p:pic>
      <p:sp>
        <p:nvSpPr>
          <p:cNvPr id="42" name="Text 31"/>
          <p:cNvSpPr/>
          <p:nvPr/>
        </p:nvSpPr>
        <p:spPr>
          <a:xfrm>
            <a:off x="10140696" y="3785616"/>
            <a:ext cx="1490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Notify responders</a:t>
            </a:r>
            <a:endParaRPr lang="en-US" sz="1200" dirty="0"/>
          </a:p>
        </p:txBody>
      </p:sp>
      <p:sp>
        <p:nvSpPr>
          <p:cNvPr id="43" name="Text 32"/>
          <p:cNvSpPr/>
          <p:nvPr/>
        </p:nvSpPr>
        <p:spPr>
          <a:xfrm>
            <a:off x="10177272" y="4279392"/>
            <a:ext cx="141732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Before-and-after pictures plus soil moisture, rainfall, and wind before the strike</a:t>
            </a:r>
            <a:endParaRPr lang="en-US" sz="900" dirty="0"/>
          </a:p>
        </p:txBody>
      </p:sp>
      <p:sp>
        <p:nvSpPr>
          <p:cNvPr id="44" name="Shape 33"/>
          <p:cNvSpPr/>
          <p:nvPr/>
        </p:nvSpPr>
        <p:spPr>
          <a:xfrm>
            <a:off x="2176272" y="3465576"/>
            <a:ext cx="649224" cy="0"/>
          </a:xfrm>
          <a:prstGeom prst="line">
            <a:avLst/>
          </a:prstGeom>
          <a:noFill/>
          <a:ln w="22225">
            <a:solidFill>
              <a:srgbClr val="5F6B7A"/>
            </a:solidFill>
            <a:prstDash val="solid"/>
            <a:tailEnd type="triangle"/>
          </a:ln>
        </p:spPr>
      </p:sp>
      <p:sp>
        <p:nvSpPr>
          <p:cNvPr id="45" name="Text 34"/>
          <p:cNvSpPr/>
          <p:nvPr/>
        </p:nvSpPr>
        <p:spPr>
          <a:xfrm>
            <a:off x="2112264" y="3621024"/>
            <a:ext cx="777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i="1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lightning weather forecast near nodes</a:t>
            </a:r>
            <a:endParaRPr lang="en-US" sz="800" dirty="0"/>
          </a:p>
        </p:txBody>
      </p:sp>
      <p:sp>
        <p:nvSpPr>
          <p:cNvPr id="46" name="Shape 35"/>
          <p:cNvSpPr/>
          <p:nvPr/>
        </p:nvSpPr>
        <p:spPr>
          <a:xfrm>
            <a:off x="4572000" y="3465576"/>
            <a:ext cx="649224" cy="0"/>
          </a:xfrm>
          <a:prstGeom prst="line">
            <a:avLst/>
          </a:prstGeom>
          <a:noFill/>
          <a:ln w="22225">
            <a:solidFill>
              <a:srgbClr val="5F6B7A"/>
            </a:solidFill>
            <a:prstDash val="solid"/>
            <a:tailEnd type="triangle"/>
          </a:ln>
        </p:spPr>
      </p:sp>
      <p:sp>
        <p:nvSpPr>
          <p:cNvPr id="47" name="Text 36"/>
          <p:cNvSpPr/>
          <p:nvPr/>
        </p:nvSpPr>
        <p:spPr>
          <a:xfrm>
            <a:off x="4507992" y="3621024"/>
            <a:ext cx="777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i="1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SDR strike + enough nodes in range</a:t>
            </a:r>
            <a:endParaRPr lang="en-US" sz="800" dirty="0"/>
          </a:p>
        </p:txBody>
      </p:sp>
      <p:sp>
        <p:nvSpPr>
          <p:cNvPr id="48" name="Shape 37"/>
          <p:cNvSpPr/>
          <p:nvPr/>
        </p:nvSpPr>
        <p:spPr>
          <a:xfrm>
            <a:off x="6967728" y="3465576"/>
            <a:ext cx="649224" cy="0"/>
          </a:xfrm>
          <a:prstGeom prst="line">
            <a:avLst/>
          </a:prstGeom>
          <a:noFill/>
          <a:ln w="22225">
            <a:solidFill>
              <a:srgbClr val="5F6B7A"/>
            </a:solidFill>
            <a:prstDash val="solid"/>
            <a:tailEnd type="triangle"/>
          </a:ln>
        </p:spPr>
      </p:sp>
      <p:sp>
        <p:nvSpPr>
          <p:cNvPr id="49" name="Text 38"/>
          <p:cNvSpPr/>
          <p:nvPr/>
        </p:nvSpPr>
        <p:spPr>
          <a:xfrm>
            <a:off x="6903720" y="3621024"/>
            <a:ext cx="777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i="1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fixed → best camera chosen</a:t>
            </a:r>
            <a:endParaRPr lang="en-US" sz="800" dirty="0"/>
          </a:p>
        </p:txBody>
      </p:sp>
      <p:sp>
        <p:nvSpPr>
          <p:cNvPr id="50" name="Shape 39"/>
          <p:cNvSpPr/>
          <p:nvPr/>
        </p:nvSpPr>
        <p:spPr>
          <a:xfrm>
            <a:off x="9363456" y="3465576"/>
            <a:ext cx="649224" cy="0"/>
          </a:xfrm>
          <a:prstGeom prst="line">
            <a:avLst/>
          </a:prstGeom>
          <a:noFill/>
          <a:ln w="22225">
            <a:solidFill>
              <a:srgbClr val="5F6B7A"/>
            </a:solidFill>
            <a:prstDash val="solid"/>
            <a:tailEnd type="triangle"/>
          </a:ln>
        </p:spPr>
      </p:sp>
      <p:sp>
        <p:nvSpPr>
          <p:cNvPr id="51" name="Text 40"/>
          <p:cNvSpPr/>
          <p:nvPr/>
        </p:nvSpPr>
        <p:spPr>
          <a:xfrm>
            <a:off x="9299448" y="3621024"/>
            <a:ext cx="777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i="1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smoke confirmed (else back to 1)</a:t>
            </a:r>
            <a:endParaRPr lang="en-US" sz="800" dirty="0"/>
          </a:p>
        </p:txBody>
      </p:sp>
      <p:sp>
        <p:nvSpPr>
          <p:cNvPr id="52" name="Text 41"/>
          <p:cNvSpPr/>
          <p:nvPr/>
        </p:nvSpPr>
        <p:spPr>
          <a:xfrm>
            <a:off x="502920" y="5806440"/>
            <a:ext cx="11183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SDR lightning sensing is planned hardware — the camera flash serves as the start-of-clock today. Notifications are human-reviewed before anything reaches responders. Soil moisture comes from NASA satellite and model data; an on-node probe is the planned upgrade.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— FOR Q&amp;A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pattern repeats on a second node</a:t>
            </a:r>
            <a:endParaRPr lang="en-US" sz="3200" dirty="0"/>
          </a:p>
        </p:txBody>
      </p:sp>
      <p:pic>
        <p:nvPicPr>
          <p:cNvPr id="4" name="Image 0" descr="Fixed camera flagging a plume while the steerable camera points at canop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1463040"/>
            <a:ext cx="10241280" cy="35112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78408" y="5138928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8A9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W097, Hawaiʻi Volcanoes National Park, 2025-10-05. Left: the node's fixed fire-detection camera flagged the persistent Halemaʻumaʻu gas plume — the detection boxes were drawn by the node's production detector, not by this project. Right: the steerable PTZ camera the same day, pointed at canopy.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978408" y="594360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B2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capability was never the gap — watch tasking is. The same lesson as the cabin wall, on a different node and hazard.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2026-07-28T15:46:47Z</dcterms:created>
  <dcterms:modified xsi:type="dcterms:W3CDTF">2026-07-28T15:46:47Z</dcterms:modified>
</cp:coreProperties>
</file>