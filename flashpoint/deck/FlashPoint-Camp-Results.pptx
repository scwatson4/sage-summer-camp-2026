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 s] Sage FlashPoint turns the fleet's existing cameras, microphones and weather stations into a lightning-detection and wildfire ignition-watch system. Every result shown was built and validated during camp week, on real archived fleet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 s] The flagship case. The Kitten Fire started six kilometers from a Sage node that was recording the whole time — audio, imagery, weather. The timeline shows what its microphone heard: a bone-dry night storm, a second storm the next evening, and the fire discovered midday after. All the evidence was there. Nothing was listening for it. That's the gap FlashPoint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[45 s] First result: a negative one, and the most important. The audio-only detector found 17 thunder events and was confident about every single one. Two independent satellite lightning sensors falsified all seventeen — zero flashes within fifty kilometers. The raw recording lives in the repository — it fools human ears too. Hence FlashPoint's rule: no single sensor ever confirms a strike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[45 s] The recovery: a satellite scan found the real ignition storm — closest flash 3.1 kilometers from the fire point. Knowing exactly when each flash happened, the detector re-listened in the narrow window where its thunder had to arrive — and 22 real arrivals surfaced from under the rain noise. The rebuilt noise-adaptive detector recovers 20 of the 22 with sub-kilometer range error. The volley recording in the repository holds three separate strikes — three rumbles, each at its predicted delay.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 s] How localization works with zero new hardware: light is effectively instant, so the flash gives every node its own clock. Time-to-thunder gives range; ranges from several nodes give a position with an honest uncertainty ellipse. The integration test localizes a strike to 96 meters with no satellite and no synchronization. The map shows the full engine fusing a replayed test storm over real Argonne geometry — five for five, all clean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[45 s] Detection only matters if the fleet is actually listening when the storm comes. The storm-mode controller escalates through tiers — free forecasts arm it, local evidence escalates it, everything is budget-capped and audit-logged. Replayed on the real Kitten storm it armed two hours and 25 minutes before the first local flash. And here's the motivation frame: during the ignition storm the node's steerable camera was pointed at a cabin wall. Storm mode fixes the tasking. Equally important is the honest half: siting. That camera may never have had a sightline at all — a fleet-design recommendation now returned to 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 s] After a strike, the watch: the camera patrols strike sectors on a risk-ranked schedule, and evidence always ships as raw plus annotated pairs — detection boxes are never burned into the only copy, a lesson learned from this very archive. The boxed detection on this slide is a test-harness placeholder; the smoke model itself is future work. Alerts go to Slack scored and explained, and a human clicks confirm or reject. Those clicks flow back to the node and double as labeled training data. Nothing is ever auto-dispatched.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 s] Case two proves the risk side with met data alone. Near Selma, Oregon, fourteen natural-cause fires were discovered in a single day. The node's own rain gauge: six hundredths of a millimeter across five days, under a 37-degree heat spike — and its only uptick lands exactly on the fire line. That's the ignition storm passing, essentially dry. The transparent risk score already separates cleanly: both real ignition storms score hot, both controls score 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 s] The ledger. Built this week: the full chain — detectors, an edge plugin that already ran on a Sage node and published candidates to the cloud, a first neural probe at 0.95 AUC, the controller, fusion, and the human-review loop, all tested. Found for Sage: real fleet gaps, including zero soil moisture sensors anywhere, and the camera-siting constraint. The fleet-history catalog behind two of the middle-column findings read seven million satellite lightning granules and ranks 448 fire-and-node pairs for follow-up — the Kitten Fire lands at number four, which validates the ranking. And the limitations, stated plainly: one real storm behind the audio numbers, replay-test-only validation for fusion, ground truth coarser than the precision claims — hence the Vaisala research request, submitted July 24 and still awaiting approval — several fire-country node archives that likely hold more storm and fire cases stayed closed to read access, and live PTZ control still untested: the sandbox camera was reachable over an SSH tunnel, but control permissions were not granted, so re-aim runs in test mode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 s] The fleet already hears the storms — FlashPoint makes it listen. Next: NLDN ground truth is already requested, reviewer clicks are already accumulating as training labels, and the same controller re-armed on wind triggers becomes the Hawaiʻi deployment on HCDP mesonet feeds. Everything — code, data, and the actual thunder recordings — is in the repo.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[Backup — show only if siting or tasking questions come up in Q&amp;A. Second, independent example: this node's fixed camera flagged the plume with its production detector while the steerable camera studied canopy the same day. Tasking, not camera capability, is the gap the storm-mode controller closes.]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4.png"/><Relationship Id="rId5" Type="http://schemas.openxmlformats.org/officeDocument/2006/relationships/image" Target="../media/image-1-2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2443277"/>
            <a:ext cx="2103120" cy="1514246"/>
          </a:xfrm>
          <a:prstGeom prst="ellipse">
            <a:avLst/>
          </a:prstGeom>
          <a:ln w="15875">
            <a:solidFill>
              <a:srgbClr val="5661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1850746"/>
            <a:ext cx="3749040" cy="2699309"/>
          </a:xfrm>
          <a:prstGeom prst="ellipse">
            <a:avLst/>
          </a:prstGeom>
          <a:ln w="15875">
            <a:solidFill>
              <a:srgbClr val="4653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258214"/>
            <a:ext cx="5394960" cy="3884371"/>
          </a:xfrm>
          <a:prstGeom prst="ellipse">
            <a:avLst/>
          </a:prstGeom>
          <a:ln w="15875">
            <a:solidFill>
              <a:srgbClr val="3A47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665683"/>
            <a:ext cx="7040880" cy="5069434"/>
          </a:xfrm>
          <a:prstGeom prst="ellipse">
            <a:avLst/>
          </a:prstGeom>
          <a:ln w="15875">
            <a:solidFill>
              <a:srgbClr val="2C3752"/>
            </a:solidFill>
            <a:prstDash val="solid"/>
          </a:ln>
        </p:spPr>
      </p:sp>
      <p:pic>
        <p:nvPicPr>
          <p:cNvPr id="6" name="Image 0" descr="Lightning strik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1976" y="2852928"/>
            <a:ext cx="475488" cy="694944"/>
          </a:xfrm>
          <a:prstGeom prst="rect">
            <a:avLst/>
          </a:prstGeom>
        </p:spPr>
      </p:pic>
      <p:pic>
        <p:nvPicPr>
          <p:cNvPr id="7" name="Image 1" descr="Sage sensor n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093976"/>
            <a:ext cx="365760" cy="603504"/>
          </a:xfrm>
          <a:prstGeom prst="rect">
            <a:avLst/>
          </a:prstGeom>
        </p:spPr>
      </p:pic>
      <p:pic>
        <p:nvPicPr>
          <p:cNvPr id="8" name="Image 2" descr="Sage sensor n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888" y="2313432"/>
            <a:ext cx="365760" cy="603504"/>
          </a:xfrm>
          <a:prstGeom prst="rect">
            <a:avLst/>
          </a:prstGeom>
        </p:spPr>
      </p:pic>
      <p:pic>
        <p:nvPicPr>
          <p:cNvPr id="9" name="Image 3" descr="Sage sensor n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178808"/>
            <a:ext cx="365760" cy="603504"/>
          </a:xfrm>
          <a:prstGeom prst="rect">
            <a:avLst/>
          </a:prstGeom>
        </p:spPr>
      </p:pic>
      <p:pic>
        <p:nvPicPr>
          <p:cNvPr id="10" name="Image 4" descr="Sage sensor no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0" y="3739896"/>
            <a:ext cx="365760" cy="60350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946404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= Δt × 343 m/s</a:t>
            </a:r>
            <a:endParaRPr lang="en-US" sz="1000" dirty="0"/>
          </a:p>
        </p:txBody>
      </p:sp>
      <p:sp>
        <p:nvSpPr>
          <p:cNvPr id="12" name="Text 5"/>
          <p:cNvSpPr/>
          <p:nvPr/>
        </p:nvSpPr>
        <p:spPr>
          <a:xfrm>
            <a:off x="502920" y="15544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 FlashPoint</a:t>
            </a:r>
            <a:endParaRPr lang="en-US" sz="5000" dirty="0"/>
          </a:p>
        </p:txBody>
      </p:sp>
      <p:sp>
        <p:nvSpPr>
          <p:cNvPr id="13" name="Text 6"/>
          <p:cNvSpPr/>
          <p:nvPr/>
        </p:nvSpPr>
        <p:spPr>
          <a:xfrm>
            <a:off x="502920" y="2542032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Multi-node lightning localization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wildfire ignition watch on the Sage fleet</a:t>
            </a:r>
            <a:endParaRPr lang="en-US" sz="2000" dirty="0"/>
          </a:p>
        </p:txBody>
      </p:sp>
      <p:sp>
        <p:nvSpPr>
          <p:cNvPr id="14" name="Text 7"/>
          <p:cNvSpPr/>
          <p:nvPr/>
        </p:nvSpPr>
        <p:spPr>
          <a:xfrm>
            <a:off x="502920" y="36118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 catch the flash. </a:t>
            </a:r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Microphones catch the thunder. </a:t>
            </a:r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decides when to listen.</a:t>
            </a:r>
            <a:endParaRPr lang="en-US" sz="1500" dirty="0"/>
          </a:p>
        </p:txBody>
      </p:sp>
      <p:sp>
        <p:nvSpPr>
          <p:cNvPr id="15" name="Shape 8"/>
          <p:cNvSpPr/>
          <p:nvPr/>
        </p:nvSpPr>
        <p:spPr>
          <a:xfrm>
            <a:off x="502920" y="4736592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pic>
        <p:nvPicPr>
          <p:cNvPr id="16" name="Image 5" descr="/home/user/sage-summer-camp-2026/flashpoint/deck/assets/sage-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855464"/>
            <a:ext cx="2377440" cy="530352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3337560" y="4736592"/>
            <a:ext cx="180136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pic>
        <p:nvPicPr>
          <p:cNvPr id="18" name="Image 6" descr="/home/user/sage-summer-camp-2026/flashpoint/deck/assets/uh-manoa-lo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4846320"/>
            <a:ext cx="1581912" cy="56692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2920" y="57790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Samuel Watson  ·  University of Hawaiʻi at Mānoa  ·  Sage Summer Camp 2026 hackathon</a:t>
            </a:r>
            <a:endParaRPr lang="en-US" sz="1150" dirty="0"/>
          </a:p>
        </p:txBody>
      </p:sp>
      <p:sp>
        <p:nvSpPr>
          <p:cNvPr id="20" name="Text 11"/>
          <p:cNvSpPr/>
          <p:nvPr/>
        </p:nvSpPr>
        <p:spPr>
          <a:xfrm>
            <a:off x="502920" y="610819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work was supported in part by the National Science Foundation under Awards No. 2331263 and 2436842.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Sage node heard the fire start. Nobody was listening.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Kitten Fire — Grand Teton WY, natural cause, discovered midday July 3 2025, six kilometers from node W06C.</a:t>
            </a:r>
            <a:endParaRPr lang="en-US" sz="15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node recorded straight through both suspect storms: audio snapshots, PTZ (pan-tilt-zoom) camera frames, full weather telemetry.</a:t>
            </a:r>
            <a:endParaRPr lang="en-US" sz="15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Holdover fires smolder for hours or days before flaring. The strike is the earliest possible warning — and today nothing connects strikes to a follow-up watch.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4983480"/>
            <a:ext cx="1371600" cy="1042416"/>
          </a:xfrm>
          <a:prstGeom prst="roundRect">
            <a:avLst>
              <a:gd name="adj" fmla="val 7018"/>
            </a:avLst>
          </a:prstGeom>
          <a:solidFill>
            <a:srgbClr val="1D2740"/>
          </a:solidFill>
          <a:ln w="9525">
            <a:solidFill>
              <a:srgbClr val="3A47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5056632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km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30936" y="5605272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to fire point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02536" y="4983480"/>
            <a:ext cx="1371600" cy="1042416"/>
          </a:xfrm>
          <a:prstGeom prst="roundRect">
            <a:avLst>
              <a:gd name="adj" fmla="val 7018"/>
            </a:avLst>
          </a:prstGeom>
          <a:solidFill>
            <a:srgbClr val="1D2740"/>
          </a:solidFill>
          <a:ln w="9525">
            <a:solidFill>
              <a:srgbClr val="3A47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0552" y="5056632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130552" y="5605272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clips, July 1–4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02152" y="4983480"/>
            <a:ext cx="1371600" cy="1042416"/>
          </a:xfrm>
          <a:prstGeom prst="roundRect">
            <a:avLst>
              <a:gd name="adj" fmla="val 7018"/>
            </a:avLst>
          </a:prstGeom>
          <a:solidFill>
            <a:srgbClr val="1D2740"/>
          </a:solidFill>
          <a:ln w="9525">
            <a:solidFill>
              <a:srgbClr val="3A47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5056632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51k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30168" y="5605272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records</a:t>
            </a:r>
            <a:endParaRPr lang="en-US" sz="1150" dirty="0"/>
          </a:p>
        </p:txBody>
      </p:sp>
      <p:pic>
        <p:nvPicPr>
          <p:cNvPr id="14" name="Image 0" descr="/home/user/sage-summer-camp-2026/flashpoint/docs/m1-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331720"/>
            <a:ext cx="6675120" cy="245973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0" y="495604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518 classified clips: a DRY night storm (0.0 mm rain) and a second storm the next evening — then the discovery line.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FALSIFICATION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confident detections. Two satellites. Zero survivors.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D0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17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4206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Audio-only detector v0 flagged 17 thunder events across the storm nights — all confident, none wind-vetoed.</a:t>
            </a:r>
            <a:endParaRPr lang="en-US" sz="15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Cross-checked against BOTH GOES-18 and GOES-19 (Geostationary Operational Environmental Satellites) lightning sensors — ±90-second window: not one flash within 50 km of any of them.</a:t>
            </a:r>
            <a:endParaRPr lang="en-US" sz="1500" dirty="0"/>
          </a:p>
          <a:p>
            <a:pPr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Single-modality detection false-alarms confidently.</a:t>
            </a:r>
            <a:endParaRPr lang="en-US" sz="15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result became the architecture: standalone detections are nominations — never confirmations.</a:t>
            </a:r>
            <a:endParaRPr lang="en-US" sz="1500" dirty="0"/>
          </a:p>
        </p:txBody>
      </p:sp>
      <p:pic>
        <p:nvPicPr>
          <p:cNvPr id="6" name="Image 0" descr="/home/user/sage-summer-camp-2026/flashpoint/docs/kitten-thunder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920240"/>
            <a:ext cx="6812280" cy="23500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92040" y="4434840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candidate of the 17 — low-band transient ratio 31 — of undetermined origin per two independent satellites.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on the flash, and the buried thunder appears</a:t>
            </a:r>
            <a:endParaRPr lang="en-US" sz="3200" dirty="0"/>
          </a:p>
        </p:txBody>
      </p:sp>
      <p:pic>
        <p:nvPicPr>
          <p:cNvPr id="4" name="Image 0" descr="/home/user/sage-summer-camp-2026/flashpoint/docs/media/kitten-glm-storm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4114800" cy="34472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010912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ignition storm, located by satellite scan: closest flash 3.1 km from the fire point, ~3 h before discovery. Data: NOAA (National Oceanic and Atmospheric Administration) GLM (Geostationary Lightning Mapper) via AWS (Amazon Web Services) Open Data.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892040" y="1417320"/>
            <a:ext cx="6812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satellite flash gives a time-zero. Sound needs ~3 s per kilometer — so re-listening is confined to each flash's predicted arrival window.</a:t>
            </a:r>
            <a:endParaRPr lang="en-US" sz="14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real flash→bang arrivals surfaced from clips the rain noise had blinded — including three flashes ranged in a single 30-second clip:</a:t>
            </a:r>
            <a:endParaRPr lang="en-US" sz="1450" dirty="0"/>
          </a:p>
        </p:txBody>
      </p:sp>
      <p:pic>
        <p:nvPicPr>
          <p:cNvPr id="7" name="Image 1" descr="/home/user/sage-summer-camp-2026/flashpoint/docs/flashmatch_2333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926080"/>
            <a:ext cx="6812280" cy="236829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892040" y="5394960"/>
            <a:ext cx="2103120" cy="1042416"/>
          </a:xfrm>
          <a:prstGeom prst="roundRect">
            <a:avLst>
              <a:gd name="adj" fmla="val 7018"/>
            </a:avLst>
          </a:prstGeom>
          <a:solidFill>
            <a:srgbClr val="1D2740"/>
          </a:solidFill>
          <a:ln w="9525">
            <a:solidFill>
              <a:srgbClr val="3A476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0056" y="546811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5020056" y="601675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arrivals recovered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178040" y="5394960"/>
            <a:ext cx="2103120" cy="1042416"/>
          </a:xfrm>
          <a:prstGeom prst="roundRect">
            <a:avLst>
              <a:gd name="adj" fmla="val 7018"/>
            </a:avLst>
          </a:prstGeom>
          <a:solidFill>
            <a:srgbClr val="1D2740"/>
          </a:solidFill>
          <a:ln w="9525">
            <a:solidFill>
              <a:srgbClr val="3A476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06056" y="546811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20/22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7306056" y="601675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recall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464040" y="5394960"/>
            <a:ext cx="2103120" cy="1042416"/>
          </a:xfrm>
          <a:prstGeom prst="roundRect">
            <a:avLst>
              <a:gd name="adj" fmla="val 7018"/>
            </a:avLst>
          </a:prstGeom>
          <a:solidFill>
            <a:srgbClr val="1D2740"/>
          </a:solidFill>
          <a:ln w="9525">
            <a:solidFill>
              <a:srgbClr val="3A476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592056" y="546811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 km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9592056" y="6016752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range error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without clocks, fixes without over-claiming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arrives instantly — a camera flash is a free, absolute time-zero at every node. No cross-node clock sync needed.</a:t>
            </a:r>
            <a:endParaRPr lang="en-US" sz="15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= Δt × 343 m/s, per node; several nodes' ranges triangulate the strike.</a:t>
            </a:r>
            <a:endParaRPr lang="en-US" sz="15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Cross-node consistency (RANSAC — random sample consensus) picks the one candidate set that agrees; a geometry gate labels every solution fix, ambiguous, or range-only — the system never over-claims.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0"/>
            <a:ext cx="2084832" cy="1042416"/>
          </a:xfrm>
          <a:prstGeom prst="roundRect">
            <a:avLst>
              <a:gd name="adj" fmla="val 7018"/>
            </a:avLst>
          </a:prstGeom>
          <a:solidFill>
            <a:srgbClr val="1D2740"/>
          </a:solidFill>
          <a:ln w="9525">
            <a:solidFill>
              <a:srgbClr val="3A47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46451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30936" y="51937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with no satellite, no sync (integration test)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15768" y="4572000"/>
            <a:ext cx="2084832" cy="1042416"/>
          </a:xfrm>
          <a:prstGeom prst="roundRect">
            <a:avLst>
              <a:gd name="adj" fmla="val 7018"/>
            </a:avLst>
          </a:prstGeom>
          <a:solidFill>
            <a:srgbClr val="1D2740"/>
          </a:solidFill>
          <a:ln w="9525">
            <a:solidFill>
              <a:srgbClr val="3A47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43784" y="464515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843784" y="51937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strikes fixed in the replayed test storm, 70–273 m</a:t>
            </a:r>
            <a:endParaRPr lang="en-US" sz="1150" dirty="0"/>
          </a:p>
        </p:txBody>
      </p:sp>
      <p:pic>
        <p:nvPicPr>
          <p:cNvPr id="11" name="Image 0" descr="/tmp/claude-0/-home-user-sage-summer-camp-2026/d14367c0-89e4-571d-8363-e54b6f543067/scratchpad/fusion-map-off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417320"/>
            <a:ext cx="6492240" cy="41696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12080" y="5687568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Fused strike map: a replayed test storm over the real Argonne node geometry (cameras + microphones only).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CONTROLLER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 mode armed 145 minutes before the first flash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1D2740"/>
          </a:solidFill>
          <a:ln w="15875">
            <a:solidFill>
              <a:srgbClr val="3A47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8988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691640" y="138988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84248" y="1389888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1D2740"/>
          </a:solidFill>
          <a:ln w="15875">
            <a:solidFill>
              <a:srgbClr val="2A78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84248" y="138988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72968" y="138988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65576" y="1389888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1D2740"/>
          </a:solidFill>
          <a:ln w="15875">
            <a:solidFill>
              <a:srgbClr val="FAB2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76" y="138988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54296" y="138988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46904" y="1389888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1D2740"/>
          </a:solidFill>
          <a:ln w="15875">
            <a:solidFill>
              <a:srgbClr val="D03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46904" y="138988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0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35624" y="138988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28232" y="1389888"/>
            <a:ext cx="1170432" cy="457200"/>
          </a:xfrm>
          <a:prstGeom prst="roundRect">
            <a:avLst>
              <a:gd name="adj" fmla="val 16000"/>
            </a:avLst>
          </a:prstGeom>
          <a:solidFill>
            <a:srgbClr val="1D2740"/>
          </a:solidFill>
          <a:ln w="15875">
            <a:solidFill>
              <a:srgbClr val="1BAF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138988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AFTERMATH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2286000"/>
            <a:ext cx="5577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NWS (National Weather Service) outlooks arm it cheaply; radar cell tracks and local sensors escalate it; every action is budget-capped, hysteresis-damped, and audit-logged.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Replayed against the real Kitten storm feeds, it armed 145 minutes before the first local flash — then scheduled the holdover watch and expired cleanly. 19/19 tests.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→ the frame on the right: through the entire ignition storm, the node's steerable camera pointed at a cabin wall.</a:t>
            </a:r>
            <a:endParaRPr lang="en-US" sz="14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failures, honestly separated: tasking (fixed by this controller) and siting — W06C sits low in forest, so smoke confirmation needs elevated partner cameras or better-sited nodes. Both remedies are recommended.</a:t>
            </a:r>
            <a:endParaRPr lang="en-US" sz="1400" dirty="0"/>
          </a:p>
        </p:txBody>
      </p:sp>
      <p:pic>
        <p:nvPicPr>
          <p:cNvPr id="19" name="Image 0" descr="/home/user/sage-summer-camp-2026/flashpoint/docs/forensics_she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240280"/>
            <a:ext cx="5486400" cy="337413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217920" y="56875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W06C's PTZ camera during the ignition storm (top rows) and the falsified events (bottom row).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HOLDOVER WATCH + HUMAN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strike becomes a 72-hour watchpoint</a:t>
            </a:r>
            <a:endParaRPr lang="en-US" sz="3200" dirty="0"/>
          </a:p>
        </p:txBody>
      </p:sp>
      <p:pic>
        <p:nvPicPr>
          <p:cNvPr id="4" name="Image 0" descr="Raw viewport and derived detector view for the strike sec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808" y="1371600"/>
            <a:ext cx="8412480" cy="2624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92808" y="409651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ships as an untouched raw frame plus a labeled derived copy. The boxed detection here is a test-harness placeholder — in live gateway runs, Gemma 4 captions each frame and YOLO11 draws detection boxes; SmokeyNet is the planned smoke detector (W097 panorama; the plume is a real Halemaʻumaʻu gas plume).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02920" y="489204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PTZ patrols strike sectors by risk, dwelling to the smoke model's needs — validated through the real sage-agent gateway on the camp node (test-mode PTZ, live Gemma 4 captions).</a:t>
            </a:r>
            <a:endParaRPr lang="en-US" sz="13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Ignition-risk score with per-factor provenance: node rain gauge, NASA (National Aeronautics and Space Administration) POWER (Prediction of Worldwide Energy Resources) dryness, fuel, detection confidence.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263640" y="4892040"/>
            <a:ext cx="5440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land in Slack: one glanceable summary line, evidence strip inline, full forensic audit in-thread.</a:t>
            </a:r>
            <a:endParaRPr lang="en-US" sz="13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3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click Confirm / False positive / Keep watching — decisions flow back to the node AND become labeled training data. No automated dispatch, ever.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CASE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Fourteen fires. Five days. 0.06 millimeters of rain.</a:t>
            </a:r>
            <a:endParaRPr lang="en-US" sz="3200" dirty="0"/>
          </a:p>
        </p:txBody>
      </p:sp>
      <p:pic>
        <p:nvPicPr>
          <p:cNvPr id="4" name="Image 0" descr="/home/user/sage-summer-camp-2026/flashpoint/docs/media/selma-dry-bu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583680" cy="35112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04748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Queried live during camp week from W067's public weather streams. Fire records: NIFC (National Interagency Fire Center) WFIGS (Wildland Fire Interagency Geospatial Services), agency-determined cause.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269480" y="1417320"/>
            <a:ext cx="4434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Selma, Oregon: 14 natural-cause fires logged in ONE day, 14–34 km from node W067.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node's own gauge: 0.06 mm across five days, under a 37 °C spike. Its only movement — a 0.05 mm trace — lands exactly on the fire line: the ignition storm itself, essentially dry.</a:t>
            </a:r>
            <a:endParaRPr lang="en-US" sz="14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v0.1 back-test — separation is already clean: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269480" y="4041648"/>
            <a:ext cx="713232" cy="420624"/>
          </a:xfrm>
          <a:prstGeom prst="roundRect">
            <a:avLst>
              <a:gd name="adj" fmla="val 15217"/>
            </a:avLst>
          </a:prstGeom>
          <a:solidFill>
            <a:srgbClr val="1D2740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69480" y="404164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10728" y="404164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Kitten dry night storm → fire next day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269480" y="4553712"/>
            <a:ext cx="713232" cy="420624"/>
          </a:xfrm>
          <a:prstGeom prst="roundRect">
            <a:avLst>
              <a:gd name="adj" fmla="val 15217"/>
            </a:avLst>
          </a:prstGeom>
          <a:solidFill>
            <a:srgbClr val="1D2740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69480" y="455371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10728" y="45537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Selma bust → 14 fires next day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269480" y="5065776"/>
            <a:ext cx="713232" cy="420624"/>
          </a:xfrm>
          <a:prstGeom prst="roundRect">
            <a:avLst>
              <a:gd name="adj" fmla="val 15217"/>
            </a:avLst>
          </a:prstGeom>
          <a:solidFill>
            <a:srgbClr val="1D2740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69480" y="506577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110728" y="506577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wet-storm control → low risk, correct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269480" y="5577840"/>
            <a:ext cx="713232" cy="420624"/>
          </a:xfrm>
          <a:prstGeom prst="roundRect">
            <a:avLst>
              <a:gd name="adj" fmla="val 15217"/>
            </a:avLst>
          </a:prstGeom>
          <a:solidFill>
            <a:srgbClr val="1D2740"/>
          </a:solidFill>
          <a:ln w="12700">
            <a:solidFill>
              <a:srgbClr val="8A97B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69480" y="5577840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110728" y="55778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no-strike day → no card, correct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LEDGER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built, what was found, and the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11880" cy="4846320"/>
          </a:xfrm>
          <a:prstGeom prst="roundRect">
            <a:avLst>
              <a:gd name="adj" fmla="val 2532"/>
            </a:avLst>
          </a:prstGeom>
          <a:solidFill>
            <a:srgbClr val="1D2740"/>
          </a:solidFill>
          <a:ln w="9525">
            <a:solidFill>
              <a:srgbClr val="3A47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" y="1627632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THIS WEEK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22376" y="2011680"/>
            <a:ext cx="317296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Noise-adaptive thunder + flash detectors (anchored listening)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Sage/Waggle edge plugin — built and RUN on a Sage node; candidates published to the cloud API (application programming interface)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classifier probe v0 — YAMNet + logistic regression, AUC (area under the curve) 0.95 vs 0.70 for the DSP (digital signal processing) score, same labels (first neural result)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Storm-mode controller — 19/19 tests, real-storm replay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engine + strike maps with GDOP (geometric dilution of precision) gating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cards + Slack human-review loop, live end-to-end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dashboard used to build all of the above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34256" y="1417320"/>
            <a:ext cx="3611880" cy="4846320"/>
          </a:xfrm>
          <a:prstGeom prst="roundRect">
            <a:avLst>
              <a:gd name="adj" fmla="val 2532"/>
            </a:avLst>
          </a:prstGeom>
          <a:solidFill>
            <a:srgbClr val="1D2740"/>
          </a:solidFill>
          <a:ln w="9525">
            <a:solidFill>
              <a:srgbClr val="3A47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627632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FOR SAGE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53712" y="2011680"/>
            <a:ext cx="317296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soil / fuel-moisture sensor publishes anywhere on the fleet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manifest is not the archive: 97 nodes list microphones, only 64 ever recorded — and W021 (Colorado) records audio with none listed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fleet's #2/#3 most fire-exposed recording nodes (V040/V041, Oregon) ran their microphones only in autumn–winter: 0 of their 35 storm days captured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siting caps the smoke leg — recommend ridge-top “sentinel” placement or cueing partner networks (ALERTWildfire, HPWREN)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liveness is task-level: W096's imagesampler silent 24+ h while met + audio kept flowing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Case-node file ACLs (access-control lists; W067 et al.) — access requests filed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65592" y="1417320"/>
            <a:ext cx="3611880" cy="4846320"/>
          </a:xfrm>
          <a:prstGeom prst="roundRect">
            <a:avLst>
              <a:gd name="adj" fmla="val 2532"/>
            </a:avLst>
          </a:prstGeom>
          <a:solidFill>
            <a:srgbClr val="1D2740"/>
          </a:solidFill>
          <a:ln w="9525">
            <a:solidFill>
              <a:srgbClr val="3A47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5048" y="1627632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D0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85048" y="2011680"/>
            <a:ext cx="317296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real storm validates the audio chain (Kitten)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+ flash validated in replay tests — real multi-node captures need storm mode running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 (satellite pixels 8–14 km) is coarser than the sub-km claims — Vaisala research-data request submitted Jul 24, not yet approved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access to key fire-country node archives (W067, W084/W06F, W019) was requested but not granted — additional storm/fire cases went unexamined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PTZ control untested: the W0A4 sandbox camera's web interface was reached over an SSH (Secure Shell) tunnel, but control permissions were not granted — re-aim runs in test mode only</a:t>
            </a:r>
            <a:endParaRPr lang="en-US" sz="10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hackathon week: v0.1 weights, dry-run job control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5063947"/>
            <a:ext cx="1554480" cy="1119226"/>
          </a:xfrm>
          <a:prstGeom prst="ellipse">
            <a:avLst/>
          </a:prstGeom>
          <a:ln w="15875">
            <a:solidFill>
              <a:srgbClr val="4653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4636008"/>
            <a:ext cx="2743200" cy="1975104"/>
          </a:xfrm>
          <a:prstGeom prst="ellipse">
            <a:avLst/>
          </a:prstGeom>
          <a:ln w="15875">
            <a:solidFill>
              <a:srgbClr val="3A47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4208069"/>
            <a:ext cx="3931920" cy="2830982"/>
          </a:xfrm>
          <a:prstGeom prst="ellipse">
            <a:avLst/>
          </a:prstGeom>
          <a:ln w="15875">
            <a:solidFill>
              <a:srgbClr val="2C37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62488" y="5550408"/>
            <a:ext cx="146304" cy="146304"/>
          </a:xfrm>
          <a:prstGeom prst="ellipse">
            <a:avLst/>
          </a:prstGeom>
          <a:solidFill>
            <a:srgbClr val="FAB21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fleet already hears the storms.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2128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 FlashPoint makes it listen — and watch what happens next.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798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" y="3218688"/>
            <a:ext cx="146304" cy="146304"/>
          </a:xfrm>
          <a:prstGeom prst="ellipse">
            <a:avLst/>
          </a:prstGeom>
          <a:solidFill>
            <a:srgbClr val="FAB219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31272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NLDN (National Lightning Detection Network) ground truth  </a:t>
            </a:r>
            <a:pPr indent="0" marL="0">
              <a:buNone/>
            </a:pPr>
            <a:r>
              <a:rPr lang="en-US" sz="140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request submitted July 24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21208" y="3675888"/>
            <a:ext cx="146304" cy="146304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" y="35844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classifier  </a:t>
            </a:r>
            <a:pPr indent="0" marL="0">
              <a:buNone/>
            </a:pPr>
            <a:r>
              <a:rPr lang="en-US" sz="140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v0 landed: AUC 0.95 vs 0.70 DSP — next, reviewer-click labels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1208" y="4133088"/>
            <a:ext cx="146304" cy="146304"/>
          </a:xfrm>
          <a:prstGeom prst="ellipse">
            <a:avLst/>
          </a:prstGeom>
          <a:solidFill>
            <a:srgbClr val="D03B3B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" y="40416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leg  </a:t>
            </a:r>
            <a:pPr indent="0" marL="0">
              <a:buNone/>
            </a:pPr>
            <a:r>
              <a:rPr lang="en-US" sz="140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SmokeyNet plugin on watch cadence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1208" y="4590288"/>
            <a:ext cx="146304" cy="14630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" y="44988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(radio frequency) time-zero  </a:t>
            </a:r>
            <a:pPr indent="0" marL="0">
              <a:buNone/>
            </a:pPr>
            <a:r>
              <a:rPr lang="en-US" sz="140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SDR (software-defined radio) sferic anchor — daytime parity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1208" y="5047488"/>
            <a:ext cx="146304" cy="146304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" y="49560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Hawaiʻi variant  </a:t>
            </a:r>
            <a:pPr indent="0" marL="0">
              <a:buNone/>
            </a:pPr>
            <a:r>
              <a:rPr lang="en-US" sz="140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wind-trigger controller on HCDP (Hawaiʻi Climate Data Portal) feeds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1208" y="5504688"/>
            <a:ext cx="146304" cy="14630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" y="54132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PTZ actuation  </a:t>
            </a:r>
            <a:pPr indent="0" marL="0">
              <a:buNone/>
            </a:pPr>
            <a:r>
              <a:rPr lang="en-US" sz="140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camera-control credentials on the W0A4 sandbox unblock real re-aim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58704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 NIFC WFIGS (fire records, agency-determined cause) · NOAA GOES-18/19 GLM via AWS Open Data · NASA POWER &amp; SMAP (Soil Moisture Active Passive), via Earthdata · NWS · Vaisala Xweather · Sage data &amp; storage APIs · Models: YAMNet, YOLO11 (You Only Look Once), Gemma 4 (SmokeyNet planned) · Maps: Leaflet, © OpenStreetMap contributors, © CARTO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629107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data, audio &amp; writeup: github.com/scwatson4/sage-summer-camp-2026 → flashpoint/  ·  thank you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— FOR Q&amp;A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 repeats on a second node</a:t>
            </a:r>
            <a:endParaRPr lang="en-US" sz="3200" dirty="0"/>
          </a:p>
        </p:txBody>
      </p:sp>
      <p:pic>
        <p:nvPicPr>
          <p:cNvPr id="4" name="Image 0" descr="Fixed camera flagging a plume while the steerable camera points at canop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463040"/>
            <a:ext cx="10241280" cy="35112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8408" y="513892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8A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W097, Hawaiʻi Volcanoes National Park, 2025-10-05. Left: the node's fixed fire-detection camera flagged the persistent Halemaʻumaʻu gas plume — the detection boxes were drawn by the node's production detector, not by this project. Right: the steerable PTZ camera the same day, pointed at canopy.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78408" y="59436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B2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capability was never the gap — watch tasking is. The same lesson as the cabin wall, on a different node and hazard.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2026-07-28T05:07:16Z</dcterms:created>
  <dcterms:modified xsi:type="dcterms:W3CDTF">2026-07-28T05:07:16Z</dcterms:modified>
</cp:coreProperties>
</file>